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20" r:id="rId171"/>
    <p:sldId id="421" r:id="rId17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 Id="rId105" Type="http://schemas.openxmlformats.org/officeDocument/2006/relationships/slide" Target="slides/slide95.xml"/><Relationship Id="rId106" Type="http://schemas.openxmlformats.org/officeDocument/2006/relationships/slide" Target="slides/slide96.xml"/><Relationship Id="rId107" Type="http://schemas.openxmlformats.org/officeDocument/2006/relationships/slide" Target="slides/slide97.xml"/><Relationship Id="rId108" Type="http://schemas.openxmlformats.org/officeDocument/2006/relationships/slide" Target="slides/slide98.xml"/><Relationship Id="rId109" Type="http://schemas.openxmlformats.org/officeDocument/2006/relationships/slide" Target="slides/slide99.xml"/><Relationship Id="rId110" Type="http://schemas.openxmlformats.org/officeDocument/2006/relationships/slide" Target="slides/slide100.xml"/><Relationship Id="rId111" Type="http://schemas.openxmlformats.org/officeDocument/2006/relationships/slide" Target="slides/slide101.xml"/><Relationship Id="rId112" Type="http://schemas.openxmlformats.org/officeDocument/2006/relationships/slide" Target="slides/slide102.xml"/><Relationship Id="rId113" Type="http://schemas.openxmlformats.org/officeDocument/2006/relationships/slide" Target="slides/slide103.xml"/><Relationship Id="rId114" Type="http://schemas.openxmlformats.org/officeDocument/2006/relationships/slide" Target="slides/slide104.xml"/><Relationship Id="rId115" Type="http://schemas.openxmlformats.org/officeDocument/2006/relationships/slide" Target="slides/slide105.xml"/><Relationship Id="rId116" Type="http://schemas.openxmlformats.org/officeDocument/2006/relationships/slide" Target="slides/slide106.xml"/><Relationship Id="rId117" Type="http://schemas.openxmlformats.org/officeDocument/2006/relationships/slide" Target="slides/slide107.xml"/><Relationship Id="rId118" Type="http://schemas.openxmlformats.org/officeDocument/2006/relationships/slide" Target="slides/slide108.xml"/><Relationship Id="rId119" Type="http://schemas.openxmlformats.org/officeDocument/2006/relationships/slide" Target="slides/slide109.xml"/><Relationship Id="rId120" Type="http://schemas.openxmlformats.org/officeDocument/2006/relationships/slide" Target="slides/slide110.xml"/><Relationship Id="rId121" Type="http://schemas.openxmlformats.org/officeDocument/2006/relationships/slide" Target="slides/slide111.xml"/><Relationship Id="rId122" Type="http://schemas.openxmlformats.org/officeDocument/2006/relationships/slide" Target="slides/slide112.xml"/><Relationship Id="rId123" Type="http://schemas.openxmlformats.org/officeDocument/2006/relationships/slide" Target="slides/slide113.xml"/><Relationship Id="rId124" Type="http://schemas.openxmlformats.org/officeDocument/2006/relationships/slide" Target="slides/slide114.xml"/><Relationship Id="rId125" Type="http://schemas.openxmlformats.org/officeDocument/2006/relationships/slide" Target="slides/slide115.xml"/><Relationship Id="rId126" Type="http://schemas.openxmlformats.org/officeDocument/2006/relationships/slide" Target="slides/slide116.xml"/><Relationship Id="rId127" Type="http://schemas.openxmlformats.org/officeDocument/2006/relationships/slide" Target="slides/slide117.xml"/><Relationship Id="rId128" Type="http://schemas.openxmlformats.org/officeDocument/2006/relationships/slide" Target="slides/slide118.xml"/><Relationship Id="rId129" Type="http://schemas.openxmlformats.org/officeDocument/2006/relationships/slide" Target="slides/slide119.xml"/><Relationship Id="rId130" Type="http://schemas.openxmlformats.org/officeDocument/2006/relationships/slide" Target="slides/slide120.xml"/><Relationship Id="rId131" Type="http://schemas.openxmlformats.org/officeDocument/2006/relationships/slide" Target="slides/slide121.xml"/><Relationship Id="rId132" Type="http://schemas.openxmlformats.org/officeDocument/2006/relationships/slide" Target="slides/slide122.xml"/><Relationship Id="rId133" Type="http://schemas.openxmlformats.org/officeDocument/2006/relationships/slide" Target="slides/slide123.xml"/><Relationship Id="rId134" Type="http://schemas.openxmlformats.org/officeDocument/2006/relationships/slide" Target="slides/slide124.xml"/><Relationship Id="rId135" Type="http://schemas.openxmlformats.org/officeDocument/2006/relationships/slide" Target="slides/slide125.xml"/><Relationship Id="rId136" Type="http://schemas.openxmlformats.org/officeDocument/2006/relationships/slide" Target="slides/slide126.xml"/><Relationship Id="rId137" Type="http://schemas.openxmlformats.org/officeDocument/2006/relationships/slide" Target="slides/slide127.xml"/><Relationship Id="rId138" Type="http://schemas.openxmlformats.org/officeDocument/2006/relationships/slide" Target="slides/slide128.xml"/><Relationship Id="rId139" Type="http://schemas.openxmlformats.org/officeDocument/2006/relationships/slide" Target="slides/slide129.xml"/><Relationship Id="rId140" Type="http://schemas.openxmlformats.org/officeDocument/2006/relationships/slide" Target="slides/slide130.xml"/><Relationship Id="rId141" Type="http://schemas.openxmlformats.org/officeDocument/2006/relationships/slide" Target="slides/slide131.xml"/><Relationship Id="rId142" Type="http://schemas.openxmlformats.org/officeDocument/2006/relationships/slide" Target="slides/slide132.xml"/><Relationship Id="rId143" Type="http://schemas.openxmlformats.org/officeDocument/2006/relationships/slide" Target="slides/slide133.xml"/><Relationship Id="rId144" Type="http://schemas.openxmlformats.org/officeDocument/2006/relationships/slide" Target="slides/slide134.xml"/><Relationship Id="rId145" Type="http://schemas.openxmlformats.org/officeDocument/2006/relationships/slide" Target="slides/slide135.xml"/><Relationship Id="rId146" Type="http://schemas.openxmlformats.org/officeDocument/2006/relationships/slide" Target="slides/slide136.xml"/><Relationship Id="rId147" Type="http://schemas.openxmlformats.org/officeDocument/2006/relationships/slide" Target="slides/slide137.xml"/><Relationship Id="rId148" Type="http://schemas.openxmlformats.org/officeDocument/2006/relationships/slide" Target="slides/slide138.xml"/><Relationship Id="rId149" Type="http://schemas.openxmlformats.org/officeDocument/2006/relationships/slide" Target="slides/slide139.xml"/><Relationship Id="rId150" Type="http://schemas.openxmlformats.org/officeDocument/2006/relationships/slide" Target="slides/slide140.xml"/><Relationship Id="rId151" Type="http://schemas.openxmlformats.org/officeDocument/2006/relationships/slide" Target="slides/slide141.xml"/><Relationship Id="rId152" Type="http://schemas.openxmlformats.org/officeDocument/2006/relationships/slide" Target="slides/slide142.xml"/><Relationship Id="rId153" Type="http://schemas.openxmlformats.org/officeDocument/2006/relationships/slide" Target="slides/slide143.xml"/><Relationship Id="rId154" Type="http://schemas.openxmlformats.org/officeDocument/2006/relationships/slide" Target="slides/slide144.xml"/><Relationship Id="rId155" Type="http://schemas.openxmlformats.org/officeDocument/2006/relationships/slide" Target="slides/slide145.xml"/><Relationship Id="rId156" Type="http://schemas.openxmlformats.org/officeDocument/2006/relationships/slide" Target="slides/slide146.xml"/><Relationship Id="rId157" Type="http://schemas.openxmlformats.org/officeDocument/2006/relationships/slide" Target="slides/slide147.xml"/><Relationship Id="rId158" Type="http://schemas.openxmlformats.org/officeDocument/2006/relationships/slide" Target="slides/slide148.xml"/><Relationship Id="rId159" Type="http://schemas.openxmlformats.org/officeDocument/2006/relationships/slide" Target="slides/slide149.xml"/><Relationship Id="rId160" Type="http://schemas.openxmlformats.org/officeDocument/2006/relationships/slide" Target="slides/slide150.xml"/><Relationship Id="rId161" Type="http://schemas.openxmlformats.org/officeDocument/2006/relationships/slide" Target="slides/slide151.xml"/><Relationship Id="rId162" Type="http://schemas.openxmlformats.org/officeDocument/2006/relationships/slide" Target="slides/slide152.xml"/><Relationship Id="rId163" Type="http://schemas.openxmlformats.org/officeDocument/2006/relationships/slide" Target="slides/slide153.xml"/><Relationship Id="rId164" Type="http://schemas.openxmlformats.org/officeDocument/2006/relationships/slide" Target="slides/slide154.xml"/><Relationship Id="rId165" Type="http://schemas.openxmlformats.org/officeDocument/2006/relationships/slide" Target="slides/slide155.xml"/><Relationship Id="rId166" Type="http://schemas.openxmlformats.org/officeDocument/2006/relationships/slide" Target="slides/slide156.xml"/><Relationship Id="rId167" Type="http://schemas.openxmlformats.org/officeDocument/2006/relationships/slide" Target="slides/slide157.xml"/><Relationship Id="rId168" Type="http://schemas.openxmlformats.org/officeDocument/2006/relationships/slide" Target="slides/slide158.xml"/><Relationship Id="rId169" Type="http://schemas.openxmlformats.org/officeDocument/2006/relationships/slide" Target="slides/slide159.xml"/><Relationship Id="rId171" Type="http://schemas.openxmlformats.org/officeDocument/2006/relationships/slide" Target="slides/slide160.xml"/><Relationship Id="rId172" Type="http://schemas.openxmlformats.org/officeDocument/2006/relationships/slide" Target="slides/slide1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46920" y="658368"/>
            <a:ext cx="182880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749808"/>
            <a:ext cx="1828800" cy="457200"/>
          </a:xfrm>
          <a:prstGeom prst="rect">
            <a:avLst/>
          </a:prstGeom>
          <a:noFill/>
        </p:spPr>
        <p:txBody>
          <a:bodyPr wrap="square" anchor="t">
            <a:spAutoFit/>
          </a:bodyPr>
          <a:lstStyle/>
          <a:p>
            <a:pPr algn="ctr">
              <a:spcAft>
                <a:spcPts val="400"/>
              </a:spcAft>
            </a:pPr>
            <a:r>
              <a:rPr sz="1800" b="1">
                <a:solidFill>
                  <a:srgbClr val="FFFFFF"/>
                </a:solidFill>
                <a:latin typeface="Arial"/>
              </a:rPr>
              <a:t>AGENTIC AI</a:t>
            </a:r>
          </a:p>
        </p:txBody>
      </p:sp>
      <p:sp>
        <p:nvSpPr>
          <p:cNvPr id="8" name="TextBox 7"/>
          <p:cNvSpPr txBox="1"/>
          <p:nvPr/>
        </p:nvSpPr>
        <p:spPr>
          <a:xfrm>
            <a:off x="9646920" y="1170432"/>
            <a:ext cx="1828800" cy="365760"/>
          </a:xfrm>
          <a:prstGeom prst="rect">
            <a:avLst/>
          </a:prstGeom>
          <a:noFill/>
        </p:spPr>
        <p:txBody>
          <a:bodyPr wrap="square" anchor="t">
            <a:spAutoFit/>
          </a:bodyPr>
          <a:lstStyle/>
          <a:p>
            <a:pPr algn="ctr">
              <a:spcAft>
                <a:spcPts val="400"/>
              </a:spcAft>
            </a:pPr>
            <a:r>
              <a:rPr sz="800" b="1">
                <a:solidFill>
                  <a:srgbClr val="FFFFFF"/>
                </a:solidFill>
                <a:latin typeface="Arial"/>
              </a:rPr>
              <a:t>BUSINESS INNOVATION</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NON-WSQ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Business Innovation with AI</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C798</a:t>
            </a:r>
          </a:p>
          <a:p>
            <a:r>
              <a:rPr sz="1600" b="0">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1 October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Course Orientation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TEMPLATE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AI EXPERIENCE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 Tertiary Infotech Academy</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FOCUS</a:t>
            </a:r>
          </a:p>
          <a:p>
            <a:pPr algn="l">
              <a:spcAft>
                <a:spcPts val="300"/>
              </a:spcAft>
            </a:pPr>
            <a:r>
              <a:rPr sz="1400" b="0">
                <a:solidFill>
                  <a:srgbClr val="161B26"/>
                </a:solidFill>
                <a:latin typeface="Arial"/>
              </a:rPr>
              <a:t>Business innovation, applied AI, automation and software delivery.</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PRACTICE</a:t>
            </a:r>
          </a:p>
          <a:p>
            <a:pPr algn="l">
              <a:spcAft>
                <a:spcPts val="300"/>
              </a:spcAft>
            </a:pPr>
            <a:r>
              <a:rPr sz="1400" b="0">
                <a:solidFill>
                  <a:srgbClr val="161B26"/>
                </a:solidFill>
                <a:latin typeface="Arial"/>
              </a:rPr>
              <a:t>Designs practical AI-enabled workflows, courseware and digital products.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APPROACH</a:t>
            </a:r>
          </a:p>
          <a:p>
            <a:pPr algn="l">
              <a:spcAft>
                <a:spcPts val="300"/>
              </a:spcAft>
            </a:pPr>
            <a:r>
              <a:rPr sz="1400" b="0">
                <a:solidFill>
                  <a:srgbClr val="161B26"/>
                </a:solidFill>
                <a:latin typeface="Arial"/>
              </a:rPr>
              <a:t>Evidence-led experimentation with explicit controls and human accountability.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ORGANISATION</a:t>
            </a:r>
          </a:p>
          <a:p>
            <a:pPr algn="l">
              <a:spcAft>
                <a:spcPts val="300"/>
              </a:spcAft>
            </a:pPr>
            <a:r>
              <a:rPr sz="1400" b="0">
                <a:solidFill>
                  <a:srgbClr val="161B26"/>
                </a:solidFill>
                <a:latin typeface="Arial"/>
              </a:rPr>
              <a:t>Tertiary Infotech Academy Pte Ltd · UEN 201200696W</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LEARNER INTRODUCTION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Who are you?</a:t>
            </a:r>
          </a:p>
          <a:p>
            <a:pPr algn="l">
              <a:spcAft>
                <a:spcPts val="300"/>
              </a:spcAft>
            </a:pPr>
            <a:r>
              <a:rPr sz="1200" b="0">
                <a:solidFill>
                  <a:srgbClr val="5B6372"/>
                </a:solidFill>
                <a:latin typeface="Arial"/>
              </a:rPr>
              <a:t>Name, organisation and current role.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Where is the friction?</a:t>
            </a:r>
          </a:p>
          <a:p>
            <a:pPr algn="l">
              <a:spcAft>
                <a:spcPts val="300"/>
              </a:spcAft>
            </a:pPr>
            <a:r>
              <a:rPr sz="1200" b="0">
                <a:solidFill>
                  <a:srgbClr val="5B6372"/>
                </a:solidFill>
                <a:latin typeface="Arial"/>
              </a:rPr>
              <a:t>One repetitive or slow workflow in your work.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What have you tried?</a:t>
            </a:r>
          </a:p>
          <a:p>
            <a:pPr algn="l">
              <a:spcAft>
                <a:spcPts val="300"/>
              </a:spcAft>
            </a:pPr>
            <a:r>
              <a:rPr sz="1200" b="0">
                <a:solidFill>
                  <a:srgbClr val="5B6372"/>
                </a:solidFill>
                <a:latin typeface="Arial"/>
              </a:rPr>
              <a:t>Your experience with generative AI, automation or agents.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What would success mean?</a:t>
            </a:r>
          </a:p>
          <a:p>
            <a:pPr algn="l">
              <a:spcAft>
                <a:spcPts val="300"/>
              </a:spcAft>
            </a:pPr>
            <a:r>
              <a:rPr sz="1200" b="0">
                <a:solidFill>
                  <a:srgbClr val="5B6372"/>
                </a:solidFill>
                <a:latin typeface="Arial"/>
              </a:rPr>
              <a:t>A business outcome you want AI to improve.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400" b="0">
                <a:solidFill>
                  <a:srgbClr val="161B26"/>
                </a:solidFill>
                <a:latin typeface="Arial"/>
              </a:rPr>
              <a:t>Phones on silent</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400" b="0">
                <a:solidFill>
                  <a:srgbClr val="161B26"/>
                </a:solidFill>
                <a:latin typeface="Arial"/>
              </a:rPr>
              <a:t>Participate actively</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400" b="0">
                <a:solidFill>
                  <a:srgbClr val="161B26"/>
                </a:solidFill>
                <a:latin typeface="Arial"/>
              </a:rPr>
              <a:t>Respect different views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400" b="0">
                <a:solidFill>
                  <a:srgbClr val="161B26"/>
                </a:solidFill>
                <a:latin typeface="Arial"/>
              </a:rPr>
              <a:t>One conversation at a time</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400" b="0">
                <a:solidFill>
                  <a:srgbClr val="161B26"/>
                </a:solidFill>
                <a:latin typeface="Arial"/>
              </a:rPr>
              <a:t>Return punctually</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400" b="0">
                <a:solidFill>
                  <a:srgbClr val="161B26"/>
                </a:solidFill>
                <a:latin typeface="Arial"/>
              </a:rPr>
              <a:t>Protect confidential data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09:30–17:30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One-Day Learning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Morning</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09:30 orientation</a:t>
            </a:r>
          </a:p>
          <a:p>
            <a:pPr>
              <a:spcAft>
                <a:spcPts val="900"/>
              </a:spcAft>
            </a:pPr>
            <a:r>
              <a:rPr sz="1400" b="0">
                <a:solidFill>
                  <a:srgbClr val="161B26"/>
                </a:solidFill>
                <a:latin typeface="Arial"/>
              </a:rPr>
              <a:t>•  Topics 1–2</a:t>
            </a:r>
          </a:p>
          <a:p>
            <a:pPr>
              <a:spcAft>
                <a:spcPts val="900"/>
              </a:spcAft>
            </a:pPr>
            <a:r>
              <a:rPr sz="1400" b="0">
                <a:solidFill>
                  <a:srgbClr val="161B26"/>
                </a:solidFill>
                <a:latin typeface="Arial"/>
              </a:rPr>
              <a:t>•  Labs 1–2</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Afternoon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Topics 3–5</a:t>
            </a:r>
          </a:p>
          <a:p>
            <a:pPr>
              <a:spcAft>
                <a:spcPts val="900"/>
              </a:spcAft>
            </a:pPr>
            <a:r>
              <a:rPr sz="1400" b="0">
                <a:solidFill>
                  <a:srgbClr val="161B26"/>
                </a:solidFill>
                <a:latin typeface="Arial"/>
              </a:rPr>
              <a:t>•  Labs 3–5</a:t>
            </a:r>
          </a:p>
          <a:p>
            <a:pPr>
              <a:spcAft>
                <a:spcPts val="900"/>
              </a:spcAft>
            </a:pPr>
            <a:r>
              <a:rPr sz="1400" b="0">
                <a:solidFill>
                  <a:srgbClr val="161B26"/>
                </a:solidFill>
                <a:latin typeface="Arial"/>
              </a:rPr>
              <a:t>•  Implementation roadmap</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Wrap-up</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Course recap and Q&amp;A</a:t>
            </a:r>
          </a:p>
          <a:p>
            <a:pPr>
              <a:spcAft>
                <a:spcPts val="900"/>
              </a:spcAft>
            </a:pPr>
            <a:r>
              <a:rPr sz="1400" b="0">
                <a:solidFill>
                  <a:srgbClr val="161B26"/>
                </a:solidFill>
                <a:latin typeface="Arial"/>
              </a:rPr>
              <a:t>•  Implementation commitments</a:t>
            </a:r>
          </a:p>
          <a:p>
            <a:pPr>
              <a:spcAft>
                <a:spcPts val="900"/>
              </a:spcAft>
            </a:pPr>
            <a:r>
              <a:rPr sz="1400" b="0">
                <a:solidFill>
                  <a:srgbClr val="161B26"/>
                </a:solidFill>
                <a:latin typeface="Arial"/>
              </a:rPr>
              <a:t>•  Course feedback · 17:30 close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Evolution of Business AI from Generative AI to Autonomous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2023-2026 timeline · prompt to context to harness · AI-enabled business models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2023 — generate</a:t>
            </a:r>
          </a:p>
          <a:p>
            <a:pPr algn="l">
              <a:spcAft>
                <a:spcPts val="300"/>
              </a:spcAft>
            </a:pPr>
            <a:r>
              <a:rPr sz="1100" b="0">
                <a:solidFill>
                  <a:srgbClr val="5B6372"/>
                </a:solidFill>
                <a:latin typeface="Arial"/>
              </a:rPr>
              <a:t>Copilots and chat interfaces made content generation broadly usable.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2024 — connect</a:t>
            </a:r>
          </a:p>
          <a:p>
            <a:pPr algn="l">
              <a:spcAft>
                <a:spcPts val="300"/>
              </a:spcAft>
            </a:pPr>
            <a:r>
              <a:rPr sz="1100" b="0">
                <a:solidFill>
                  <a:srgbClr val="5B6372"/>
                </a:solidFill>
                <a:latin typeface="Arial"/>
              </a:rPr>
              <a:t>Tool use, retrieval and multimodal models connected AI to business knowledge.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2025 — act</a:t>
            </a:r>
          </a:p>
          <a:p>
            <a:pPr algn="l">
              <a:spcAft>
                <a:spcPts val="300"/>
              </a:spcAft>
            </a:pPr>
            <a:r>
              <a:rPr sz="1100" b="0">
                <a:solidFill>
                  <a:srgbClr val="5B6372"/>
                </a:solidFill>
                <a:latin typeface="Arial"/>
              </a:rPr>
              <a:t>Agentic systems planned and executed multi-step work with tools and approvals.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2026 — operate</a:t>
            </a:r>
          </a:p>
          <a:p>
            <a:pPr algn="l">
              <a:spcAft>
                <a:spcPts val="300"/>
              </a:spcAft>
            </a:pPr>
            <a:r>
              <a:rPr sz="1100" b="0">
                <a:solidFill>
                  <a:srgbClr val="5B6372"/>
                </a:solidFill>
                <a:latin typeface="Arial"/>
              </a:rPr>
              <a:t>Persistent agents, digital workers and orchestration systems coordinate ongoing work.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Engineering progression</a:t>
            </a:r>
          </a:p>
          <a:p>
            <a:pPr algn="l">
              <a:spcAft>
                <a:spcPts val="300"/>
              </a:spcAft>
            </a:pPr>
            <a:r>
              <a:rPr sz="1100" b="0">
                <a:solidFill>
                  <a:srgbClr val="5B6372"/>
                </a:solidFill>
                <a:latin typeface="Arial"/>
              </a:rPr>
              <a:t>Prompt engineering → context engineering → harness engineering.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progression</a:t>
            </a:r>
          </a:p>
          <a:p>
            <a:pPr algn="l">
              <a:spcAft>
                <a:spcPts val="300"/>
              </a:spcAft>
            </a:pPr>
            <a:r>
              <a:rPr sz="1100" b="0">
                <a:solidFill>
                  <a:srgbClr val="5B6372"/>
                </a:solidFill>
                <a:latin typeface="Arial"/>
              </a:rPr>
              <a:t>AI feature → redesigned workflow → AI-enabled operating model.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1.1 Concept Lens — 2023 — generate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Copilots and chat interfaces made content generation broadly usable.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2023 — generate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1.2 Concept Lens — 2024 — connect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Tool use, retrieval and multimodal models connected AI to business knowledge.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2024 — connect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1.3 Concept Lens — 2025 — 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Agentic systems planned and executed multi-step work with tools and approvals.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2025 — act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1.4 Concept Lens — 2026 — operate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Persistent agents, digital workers and orchestration systems coordinate ongoing 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2026 — operate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1.5 Concept Lens — Engineering progression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Prompt engineering → context engineering → harness engineering.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engineering progression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1.6 Concept Lens — Business progression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AI feature → redesigned workflow → AI-enabled operating model.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business progression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1.F1 Framework — AI maturity ladder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Classify an initiative as assistive, connected, agentic or operational. Maturity is determined by responsibility, access and persistence - not by marketing language.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ladder to prevent a content-generation pilot from being governed as if it could change business records.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common failure is granting autonomy before the process, data and escalation path are stable.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FRAMEWORK APPLICATION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AI maturity ladder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AI maturity ladder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AI maturity ladder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1.F2 Framework — Engineering progression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Prompt engineering shapes a request; context engineering curates the working set; harness engineering shapes the environment in which an agent acts.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progression to diagnose whether a weak result comes from wording, missing context or an unsafe execution environment.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longer prompt cannot compensate for missing evidence, unclear tool contracts or absent approvals.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FRAMEWORK APPLICATION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Engineering progression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Engineering progression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Engineering progression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1.F3 Framework — Business-model redesign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Examine value proposition, customer interface, key activities, resources, partners, revenue and cost through an AI-enabled lens.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this framework when AI changes how value is delivered rather than merely making one task faster.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 not automate an inefficient hand-off and call it innovation; redesign the flow and ownership.</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FRAMEWORK APPLICATION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Business-model redesign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Business-model redesign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Business-model redesign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1.F4 Framework — Human-AI operating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Allocate intent, judgement, repetition, approval, exception handling and accountability deliberately between people and systems.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role clarity to show where an agent may recommend, prepare, execute or escalate.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Avoid vague statements such as 'the AI handles it'; name the owner and approval threshold.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FRAMEWORK APPLICATION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Human-AI operating model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Human-AI operating model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Human-AI operating model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1.1 — From campaign brief to approved video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retail SME needs weekly product videos but has a two-week agency cycle. The team trials Gemini/Veo for first drafts while brand and legal reviewers retain approval.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Map the old and AI-enabled value chains. Identify new capabilities, costs, risks and human decisions.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1.2 — Service operations redesign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facilities company receives requests by email and relies on coordinators to copy data into three systems.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Describe the difference between adding a drafting assistant and redesigning the operating model around a governed agent.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1.3 — The autonomy claim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vendor calls its chatbot an autonomous digital employee, but it has no tools, memory or persistent task state.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maturity ladder and agent definition to challenge the claim with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Four years changed the unit of AI value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2023 — Prompt → generated answer</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2024 — Context + multimodal tools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2025 — Goal → multi-step execution</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2026 — Persistent digital worker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value moved from content to completed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Generative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Drafts an output</a:t>
            </a:r>
          </a:p>
          <a:p>
            <a:pPr>
              <a:spcAft>
                <a:spcPts val="900"/>
              </a:spcAft>
            </a:pPr>
            <a:r>
              <a:rPr sz="1400" b="0">
                <a:solidFill>
                  <a:srgbClr val="161B26"/>
                </a:solidFill>
                <a:latin typeface="Arial"/>
              </a:rPr>
              <a:t>•  Human coordinates the workflow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Agentic</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Pursues an outcome</a:t>
            </a:r>
          </a:p>
          <a:p>
            <a:pPr>
              <a:spcAft>
                <a:spcPts val="900"/>
              </a:spcAft>
            </a:pPr>
            <a:r>
              <a:rPr sz="1400" b="0">
                <a:solidFill>
                  <a:srgbClr val="161B26"/>
                </a:solidFill>
                <a:latin typeface="Arial"/>
              </a:rPr>
              <a:t>•  System coordinates tools and feedback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Autonomous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Operates over time</a:t>
            </a:r>
          </a:p>
          <a:p>
            <a:pPr>
              <a:spcAft>
                <a:spcPts val="900"/>
              </a:spcAft>
            </a:pPr>
            <a:r>
              <a:rPr sz="1400" b="0">
                <a:solidFill>
                  <a:srgbClr val="161B26"/>
                </a:solidFill>
                <a:latin typeface="Arial"/>
              </a:rPr>
              <a:t>•  Controls bound authority and persistence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Engineering evolved with agent responsibility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Prompt</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Context</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Harness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Operating model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Traditional and AI-enabled business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Traditional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People navigate apps</a:t>
            </a:r>
          </a:p>
          <a:p>
            <a:pPr>
              <a:spcAft>
                <a:spcPts val="900"/>
              </a:spcAft>
            </a:pPr>
            <a:r>
              <a:rPr sz="1400" b="0">
                <a:solidFill>
                  <a:srgbClr val="161B26"/>
                </a:solidFill>
                <a:latin typeface="Arial"/>
              </a:rPr>
              <a:t>•  Hand-offs, queues and fixed capacity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AI-enabled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People state intent</a:t>
            </a:r>
          </a:p>
          <a:p>
            <a:pPr>
              <a:spcAft>
                <a:spcPts val="900"/>
              </a:spcAft>
            </a:pPr>
            <a:r>
              <a:rPr sz="1400" b="0">
                <a:solidFill>
                  <a:srgbClr val="161B26"/>
                </a:solidFill>
                <a:latin typeface="Arial"/>
              </a:rPr>
              <a:t>•  Agents coordinate systems under policy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Design question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Where must people decide?</a:t>
            </a:r>
          </a:p>
          <a:p>
            <a:pPr>
              <a:spcAft>
                <a:spcPts val="900"/>
              </a:spcAft>
            </a:pPr>
            <a:r>
              <a:rPr sz="1400" b="0">
                <a:solidFill>
                  <a:srgbClr val="161B26"/>
                </a:solidFill>
                <a:latin typeface="Arial"/>
              </a:rPr>
              <a:t>•  Where can software act safely?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Topic 1 · PRACTICE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Create a Business Story Video with Gemini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Create a short business-innovation video with Gemini/Veo, then compare the human decisions, cycle time and controls with a conventional production process.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6–8 second business story video, prompt record and before/after workflow comparison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Gemini, Veo video generation, browser download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AUTHENTIC VISUAL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Tool 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mini-veo-business-video.png"/>
          <p:cNvPicPr>
            <a:picLocks noChangeAspect="1"/>
          </p:cNvPicPr>
          <p:nvPr/>
        </p:nvPicPr>
        <p:blipFill>
          <a:blip r:embed="rId2"/>
          <a:stretch>
            <a:fillRect/>
          </a:stretch>
        </p:blipFill>
        <p:spPr>
          <a:xfrm>
            <a:off x="2781506" y="1783080"/>
            <a:ext cx="6598508" cy="406908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LO1 · Topic 1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Create a Business Story Video with Gemini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clip plays, matches the brief, contains no invented brand claims, and the comparison explains how generative AI changes cycle time without removing human accountability.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CHECK YOUR UNDERSTANDING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1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decision</a:t>
            </a:r>
          </a:p>
          <a:p>
            <a:pPr algn="l">
              <a:spcAft>
                <a:spcPts val="300"/>
              </a:spcAft>
            </a:pPr>
            <a:r>
              <a:rPr sz="1100" b="0">
                <a:solidFill>
                  <a:srgbClr val="5B6372"/>
                </a:solidFill>
                <a:latin typeface="Arial"/>
              </a:rPr>
              <a:t>2023-2026 timeline · prompt to context to harness · AI-enabled business models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Capability</a:t>
            </a:r>
          </a:p>
          <a:p>
            <a:pPr algn="l">
              <a:spcAft>
                <a:spcPts val="300"/>
              </a:spcAft>
            </a:pPr>
            <a:r>
              <a:rPr sz="1100" b="0">
                <a:solidFill>
                  <a:srgbClr val="5B6372"/>
                </a:solidFill>
                <a:latin typeface="Arial"/>
              </a:rPr>
              <a:t>Compare a generative-AI content workflow with a traditional production workflow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a:t>
            </a:r>
          </a:p>
          <a:p>
            <a:pPr algn="l">
              <a:spcAft>
                <a:spcPts val="300"/>
              </a:spcAft>
            </a:pPr>
            <a:r>
              <a:rPr sz="1100" b="0">
                <a:solidFill>
                  <a:srgbClr val="5B6372"/>
                </a:solidFill>
                <a:latin typeface="Arial"/>
              </a:rPr>
              <a:t>Humans retain accountability for consequential outcomes.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a:t>
            </a:r>
          </a:p>
          <a:p>
            <a:pPr algn="l">
              <a:spcAft>
                <a:spcPts val="300"/>
              </a:spcAft>
            </a:pPr>
            <a:r>
              <a:rPr sz="1100" b="0">
                <a:solidFill>
                  <a:srgbClr val="5B6372"/>
                </a:solidFill>
                <a:latin typeface="Arial"/>
              </a:rPr>
              <a:t>Use logs, tests and measurable acceptance criteria.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Generative AI, Agentic AI and AI Agent Technologies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LLMs · models, workflows and agents · n8n · Claude Code · Codex · OpenClaw · Hermes · Paperclip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Generative AI</a:t>
            </a:r>
          </a:p>
          <a:p>
            <a:pPr algn="l">
              <a:spcAft>
                <a:spcPts val="300"/>
              </a:spcAft>
            </a:pPr>
            <a:r>
              <a:rPr sz="1100" b="0">
                <a:solidFill>
                  <a:srgbClr val="5B6372"/>
                </a:solidFill>
                <a:latin typeface="Arial"/>
              </a:rPr>
              <a:t>Produces a response or artifact from a prompt; the user drives each turn.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Agentic AI</a:t>
            </a:r>
          </a:p>
          <a:p>
            <a:pPr algn="l">
              <a:spcAft>
                <a:spcPts val="300"/>
              </a:spcAft>
            </a:pPr>
            <a:r>
              <a:rPr sz="1100" b="0">
                <a:solidFill>
                  <a:srgbClr val="5B6372"/>
                </a:solidFill>
                <a:latin typeface="Arial"/>
              </a:rPr>
              <a:t>Uses goals, state, tools and feedback to complete a multi-step outcome.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 agent</a:t>
            </a:r>
          </a:p>
          <a:p>
            <a:pPr algn="l">
              <a:spcAft>
                <a:spcPts val="300"/>
              </a:spcAft>
            </a:pPr>
            <a:r>
              <a:rPr sz="1100" b="0">
                <a:solidFill>
                  <a:srgbClr val="5B6372"/>
                </a:solidFill>
                <a:latin typeface="Arial"/>
              </a:rPr>
              <a:t>A deployed system with model, instructions, memory, tools, skills and execution loop.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Workflow agent</a:t>
            </a:r>
          </a:p>
          <a:p>
            <a:pPr algn="l">
              <a:spcAft>
                <a:spcPts val="300"/>
              </a:spcAft>
            </a:pPr>
            <a:r>
              <a:rPr sz="1100" b="0">
                <a:solidFill>
                  <a:srgbClr val="5B6372"/>
                </a:solidFill>
                <a:latin typeface="Arial"/>
              </a:rPr>
              <a:t>n8n combines deterministic nodes, AI decisions and human approvals.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Coding agents</a:t>
            </a:r>
          </a:p>
          <a:p>
            <a:pPr algn="l">
              <a:spcAft>
                <a:spcPts val="300"/>
              </a:spcAft>
            </a:pPr>
            <a:r>
              <a:rPr sz="1100" b="0">
                <a:solidFill>
                  <a:srgbClr val="5B6372"/>
                </a:solidFill>
                <a:latin typeface="Arial"/>
              </a:rPr>
              <a:t>Claude Code and Codex inspect repositories, edit files, run tools and verify results.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Autonomous runtimes</a:t>
            </a:r>
          </a:p>
          <a:p>
            <a:pPr algn="l">
              <a:spcAft>
                <a:spcPts val="300"/>
              </a:spcAft>
            </a:pPr>
            <a:r>
              <a:rPr sz="1100" b="0">
                <a:solidFill>
                  <a:srgbClr val="5B6372"/>
                </a:solidFill>
                <a:latin typeface="Arial"/>
              </a:rPr>
              <a:t>OpenClaw and Hermes persist across channels; Paperclip coordinates teams of agents.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2.1 Concept Lens — Generative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Produces a response or artifact from a prompt; the user drives each turn.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generative ai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2.2 Concept Lens — Agentic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Uses goals, state, tools and feedback to complete a multi-step outcome.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agentic ai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2.3 Concept Lens —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A deployed system with model, instructions, memory, tools, skills and execution loop.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ai agent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2.4 Concept Lens — Workflow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n8n combines deterministic nodes, AI decisions and human approvals.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workflow agent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2.5 Concept Lens — Coding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Claude Code and Codex inspect repositories, edit files, run tools and verify results.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coding agents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2.6 Concept Lens — Autonomous runtimes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OpenClaw and Hermes persist across channels; Paperclip coordinates teams of agents.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autonomous runtimes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2.F1 Framework — Capability-behaviour-system taxonomy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Generative AI is a capability, agentic AI is goal-directed behaviour, and an AI agent is the deployed system that packages model, context, memory, tools and loop.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taxonomy to compare products without confusing a chatbot response with an operational agent.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 not infer autonomy from fluent language; inspect tools, state, persistence and permissions.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FRAMEWORK APPLICATION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Apply Capability-behaviour-system taxonomy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Capability-behaviour-system taxonomy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Capability-behaviour-system taxonomy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2.F2 Framework — Agent architecture stack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Map goal, instructions, context, reasoning, memory, tools, skills, channels, loop, evaluator and human oversight.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stack to find missing components before selecting a platform.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Adding more tools can increase risk and ambiguity; every tool needs a contract and owner.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FRAMEWORK APPLICATION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Agent architecture stack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Agent architecture stack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Agent architecture stack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2.F3 Framework — Technology selection matrix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Match the work boundary to generation, deterministic workflow, coding-agent, knowledge-worker or persistent digital-worker technology.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a matrix of task variability, integrations, persistence, consequence and required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Avoid choosing a fashionable tool before defining the business outcome and control boundary.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FRAMEWORK APPLICATION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Technology selection matrix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Technology selection matrix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Technology selection matrix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2.F4 Framework — Digital-worker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what the worker may read, draft, decide, change, communicate and remember.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boundary as a practical contract between business owner, technology owner and users.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Never treat an agent account as an unnamed employee; access and accountability must remain attributable.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FRAMEWORK APPLICATION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Digital-worker boundary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Digital-worker boundary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Digital-worker boundary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2.1 — Lead triage portfolio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sales team needs structured intake, classification, CRM updates and manager approval for high-value leads.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Compare n8n, a general chat assistant and a persistent agent against the required work boundary.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2.2 — Repository modernisation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product team needs an agent to inspect code, implement a change, run tests and prepare a reviewable diff.</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Compare Claude Code and Codex using context, tool, verification and human-control requirements.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2.3 — Always-on operations assistant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manager wants one agent reachable from chat and terminal that remembers approved preferences and runs scheduled briefings.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Evaluate whether OpenClaw, Hermes Agent or a deterministic workflow is the better fit.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is a Large Language Model (LLM)?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Large</a:t>
            </a:r>
          </a:p>
          <a:p>
            <a:pPr algn="l">
              <a:spcAft>
                <a:spcPts val="300"/>
              </a:spcAft>
            </a:pPr>
            <a:r>
              <a:rPr sz="1100" b="0">
                <a:solidFill>
                  <a:srgbClr val="5B6372"/>
                </a:solidFill>
                <a:latin typeface="Arial"/>
              </a:rPr>
              <a:t>Learns patterns from very large collections of text and code.</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Language</a:t>
            </a:r>
          </a:p>
          <a:p>
            <a:pPr algn="l">
              <a:spcAft>
                <a:spcPts val="300"/>
              </a:spcAft>
            </a:pPr>
            <a:r>
              <a:rPr sz="1100" b="0">
                <a:solidFill>
                  <a:srgbClr val="5B6372"/>
                </a:solidFill>
                <a:latin typeface="Arial"/>
              </a:rPr>
              <a:t>Represents text as tokens and learns relationships among them in context.</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Model</a:t>
            </a:r>
          </a:p>
          <a:p>
            <a:pPr algn="l">
              <a:spcAft>
                <a:spcPts val="300"/>
              </a:spcAft>
            </a:pPr>
            <a:r>
              <a:rPr sz="1100" b="0">
                <a:solidFill>
                  <a:srgbClr val="5B6372"/>
                </a:solidFill>
                <a:latin typeface="Arial"/>
              </a:rPr>
              <a:t>A trained mathematical system whose parameters encode learned statistical patterns.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Inference</a:t>
            </a:r>
          </a:p>
          <a:p>
            <a:pPr algn="l">
              <a:spcAft>
                <a:spcPts val="300"/>
              </a:spcAft>
            </a:pPr>
            <a:r>
              <a:rPr sz="1100" b="0">
                <a:solidFill>
                  <a:srgbClr val="5B6372"/>
                </a:solidFill>
                <a:latin typeface="Arial"/>
              </a:rPr>
              <a:t>Given context, estimates probabilities for the next token and generates one token at a time.</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Transformer</a:t>
            </a:r>
          </a:p>
          <a:p>
            <a:pPr algn="l">
              <a:spcAft>
                <a:spcPts val="300"/>
              </a:spcAft>
            </a:pPr>
            <a:r>
              <a:rPr sz="1100" b="0">
                <a:solidFill>
                  <a:srgbClr val="5B6372"/>
                </a:solidFill>
                <a:latin typeface="Arial"/>
              </a:rPr>
              <a:t>Attention helps the model relate relevant tokens across the supplied context.</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Important limit</a:t>
            </a:r>
          </a:p>
          <a:p>
            <a:pPr algn="l">
              <a:spcAft>
                <a:spcPts val="300"/>
              </a:spcAft>
            </a:pPr>
            <a:r>
              <a:rPr sz="1100" b="0">
                <a:solidFill>
                  <a:srgbClr val="5B6372"/>
                </a:solidFill>
                <a:latin typeface="Arial"/>
              </a:rPr>
              <a:t>A fluent answer is a generated prediction, not automatic proof that the answer is true.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an LLM turns text into a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Input text</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Tokenise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Encode tokens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Apply attention</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Predict next token</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Repeat until stop</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LLM is the engine—not the whole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LLM</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Predictive language model</a:t>
            </a:r>
          </a:p>
          <a:p>
            <a:pPr>
              <a:spcAft>
                <a:spcPts val="900"/>
              </a:spcAft>
            </a:pPr>
            <a:r>
              <a:rPr sz="1400" b="0">
                <a:solidFill>
                  <a:srgbClr val="161B26"/>
                </a:solidFill>
                <a:latin typeface="Arial"/>
              </a:rPr>
              <a:t>•  Generates and transforms content within supplied context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Harness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Operational envelope</a:t>
            </a:r>
          </a:p>
          <a:p>
            <a:pPr>
              <a:spcAft>
                <a:spcPts val="900"/>
              </a:spcAft>
            </a:pPr>
            <a:r>
              <a:rPr sz="1400" b="0">
                <a:solidFill>
                  <a:srgbClr val="161B26"/>
                </a:solidFill>
                <a:latin typeface="Arial"/>
              </a:rPr>
              <a:t>•  Provides instructions, memory, tools, permissions, workflow and tests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AI agent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Goal-seeking system</a:t>
            </a:r>
          </a:p>
          <a:p>
            <a:pPr>
              <a:spcAft>
                <a:spcPts val="900"/>
              </a:spcAft>
            </a:pPr>
            <a:r>
              <a:rPr sz="1400" b="0">
                <a:solidFill>
                  <a:srgbClr val="161B26"/>
                </a:solidFill>
                <a:latin typeface="Arial"/>
              </a:rPr>
              <a:t>•  Runs the model in a loop, observes results and chooses the next controlled step</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an LLM can and cannot do alone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4187952"/>
          </a:xfrm>
          <a:prstGeom prst="rect">
            <a:avLst/>
          </a:prstGeom>
          <a:noFill/>
        </p:spPr>
        <p:txBody>
          <a:bodyPr wrap="square" anchor="ctr">
            <a:spAutoFit/>
          </a:bodyPr>
          <a:lstStyle/>
          <a:p>
            <a:pPr algn="l">
              <a:spcAft>
                <a:spcPts val="300"/>
              </a:spcAft>
            </a:pPr>
            <a:r>
              <a:rPr sz="1500" b="1">
                <a:solidFill>
                  <a:srgbClr val="161B26"/>
                </a:solidFill>
                <a:latin typeface="Arial"/>
              </a:rPr>
              <a:t>Strong at</a:t>
            </a:r>
          </a:p>
          <a:p>
            <a:pPr algn="l">
              <a:spcAft>
                <a:spcPts val="300"/>
              </a:spcAft>
            </a:pPr>
            <a:r>
              <a:rPr sz="1100" b="0">
                <a:solidFill>
                  <a:srgbClr val="5B6372"/>
                </a:solidFill>
                <a:latin typeface="Arial"/>
              </a:rPr>
              <a:t>Draft, summarise, extract, classify, translate, code and propose plans.</a:t>
            </a:r>
          </a:p>
        </p:txBody>
      </p:sp>
      <p:sp>
        <p:nvSpPr>
          <p:cNvPr id="12" name="Rectangle 11"/>
          <p:cNvSpPr/>
          <p:nvPr/>
        </p:nvSpPr>
        <p:spPr>
          <a:xfrm>
            <a:off x="4413504" y="1783080"/>
            <a:ext cx="3361944"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4187952"/>
          </a:xfrm>
          <a:prstGeom prst="rect">
            <a:avLst/>
          </a:prstGeom>
          <a:noFill/>
        </p:spPr>
        <p:txBody>
          <a:bodyPr wrap="square" anchor="ctr">
            <a:spAutoFit/>
          </a:bodyPr>
          <a:lstStyle/>
          <a:p>
            <a:pPr algn="l">
              <a:spcAft>
                <a:spcPts val="300"/>
              </a:spcAft>
            </a:pPr>
            <a:r>
              <a:rPr sz="1500" b="1">
                <a:solidFill>
                  <a:srgbClr val="161B26"/>
                </a:solidFill>
                <a:latin typeface="Arial"/>
              </a:rPr>
              <a:t>Does not own</a:t>
            </a:r>
          </a:p>
          <a:p>
            <a:pPr algn="l">
              <a:spcAft>
                <a:spcPts val="300"/>
              </a:spcAft>
            </a:pPr>
            <a:r>
              <a:rPr sz="1100" b="0">
                <a:solidFill>
                  <a:srgbClr val="5B6372"/>
                </a:solidFill>
                <a:latin typeface="Arial"/>
              </a:rPr>
              <a:t>Guaranteed facts, durable memory, current data, permissions or accountability.</a:t>
            </a:r>
          </a:p>
        </p:txBody>
      </p:sp>
      <p:sp>
        <p:nvSpPr>
          <p:cNvPr id="17" name="Rectangle 16"/>
          <p:cNvSpPr/>
          <p:nvPr/>
        </p:nvSpPr>
        <p:spPr>
          <a:xfrm>
            <a:off x="8049768" y="1783080"/>
            <a:ext cx="3361944"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4370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4187952"/>
          </a:xfrm>
          <a:prstGeom prst="rect">
            <a:avLst/>
          </a:prstGeom>
          <a:noFill/>
        </p:spPr>
        <p:txBody>
          <a:bodyPr wrap="square" anchor="ctr">
            <a:spAutoFit/>
          </a:bodyPr>
          <a:lstStyle/>
          <a:p>
            <a:pPr algn="l">
              <a:spcAft>
                <a:spcPts val="300"/>
              </a:spcAft>
            </a:pPr>
            <a:r>
              <a:rPr sz="1500" b="1">
                <a:solidFill>
                  <a:srgbClr val="161B26"/>
                </a:solidFill>
                <a:latin typeface="Arial"/>
              </a:rPr>
              <a:t>Business-ready</a:t>
            </a:r>
          </a:p>
          <a:p>
            <a:pPr algn="l">
              <a:spcAft>
                <a:spcPts val="300"/>
              </a:spcAft>
            </a:pPr>
            <a:r>
              <a:rPr sz="1100" b="0">
                <a:solidFill>
                  <a:srgbClr val="5B6372"/>
                </a:solidFill>
                <a:latin typeface="Arial"/>
              </a:rPr>
              <a:t>Ground with approved knowledge, connect tools, validate outputs and retain human judgement.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Choose an LLM by the business requirement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Task quality</a:t>
            </a:r>
          </a:p>
          <a:p>
            <a:pPr algn="l">
              <a:spcAft>
                <a:spcPts val="300"/>
              </a:spcAft>
            </a:pPr>
            <a:r>
              <a:rPr sz="1100" b="0">
                <a:solidFill>
                  <a:srgbClr val="5B6372"/>
                </a:solidFill>
                <a:latin typeface="Arial"/>
              </a:rPr>
              <a:t>Evaluate on representative cases and failure modes, not a generic leaderboard alone.</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Context capacity</a:t>
            </a:r>
          </a:p>
          <a:p>
            <a:pPr algn="l">
              <a:spcAft>
                <a:spcPts val="300"/>
              </a:spcAft>
            </a:pPr>
            <a:r>
              <a:rPr sz="1100" b="0">
                <a:solidFill>
                  <a:srgbClr val="5B6372"/>
                </a:solidFill>
                <a:latin typeface="Arial"/>
              </a:rPr>
              <a:t>Fit the instructions, evidence and working state needed for the task.</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Speed and cost</a:t>
            </a:r>
          </a:p>
          <a:p>
            <a:pPr algn="l">
              <a:spcAft>
                <a:spcPts val="300"/>
              </a:spcAft>
            </a:pPr>
            <a:r>
              <a:rPr sz="1100" b="0">
                <a:solidFill>
                  <a:srgbClr val="5B6372"/>
                </a:solidFill>
                <a:latin typeface="Arial"/>
              </a:rPr>
              <a:t>Balance response time, volume, model price and total workflow cost.</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Input and output</a:t>
            </a:r>
          </a:p>
          <a:p>
            <a:pPr algn="l">
              <a:spcAft>
                <a:spcPts val="300"/>
              </a:spcAft>
            </a:pPr>
            <a:r>
              <a:rPr sz="1100" b="0">
                <a:solidFill>
                  <a:srgbClr val="5B6372"/>
                </a:solidFill>
                <a:latin typeface="Arial"/>
              </a:rPr>
              <a:t>Check required text, image, audio, video, code and structured-data capabilities.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Tool reliability</a:t>
            </a:r>
          </a:p>
          <a:p>
            <a:pPr algn="l">
              <a:spcAft>
                <a:spcPts val="300"/>
              </a:spcAft>
            </a:pPr>
            <a:r>
              <a:rPr sz="1100" b="0">
                <a:solidFill>
                  <a:srgbClr val="5B6372"/>
                </a:solidFill>
                <a:latin typeface="Arial"/>
              </a:rPr>
              <a:t>Test tool calling, schema compliance and recovery from failed actions.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500" b="1">
                <a:solidFill>
                  <a:srgbClr val="161B26"/>
                </a:solidFill>
                <a:latin typeface="Arial"/>
              </a:rPr>
              <a:t>Risk boundary</a:t>
            </a:r>
          </a:p>
          <a:p>
            <a:pPr algn="l">
              <a:spcAft>
                <a:spcPts val="300"/>
              </a:spcAft>
            </a:pPr>
            <a:r>
              <a:rPr sz="1100" b="0">
                <a:solidFill>
                  <a:srgbClr val="5B6372"/>
                </a:solidFill>
                <a:latin typeface="Arial"/>
              </a:rPr>
              <a:t>Match privacy, security, residency, deployment and vendor controls to the data.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Generative AI, agentic AI and AI agents are not synonyms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Generative AI</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Capability</a:t>
            </a:r>
          </a:p>
          <a:p>
            <a:pPr>
              <a:spcAft>
                <a:spcPts val="900"/>
              </a:spcAft>
            </a:pPr>
            <a:r>
              <a:rPr sz="1400" b="0">
                <a:solidFill>
                  <a:srgbClr val="161B26"/>
                </a:solidFill>
                <a:latin typeface="Arial"/>
              </a:rPr>
              <a:t>•  Creates text, image, audio, video or code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Agentic AI</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Behaviour</a:t>
            </a:r>
          </a:p>
          <a:p>
            <a:pPr>
              <a:spcAft>
                <a:spcPts val="900"/>
              </a:spcAft>
            </a:pPr>
            <a:r>
              <a:rPr sz="1400" b="0">
                <a:solidFill>
                  <a:srgbClr val="161B26"/>
                </a:solidFill>
                <a:latin typeface="Arial"/>
              </a:rPr>
              <a:t>•  Plans and adapts across multiple steps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AI agent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System</a:t>
            </a:r>
          </a:p>
          <a:p>
            <a:pPr>
              <a:spcAft>
                <a:spcPts val="900"/>
              </a:spcAft>
            </a:pPr>
            <a:r>
              <a:rPr sz="1400" b="0">
                <a:solidFill>
                  <a:srgbClr val="161B26"/>
                </a:solidFill>
                <a:latin typeface="Arial"/>
              </a:rPr>
              <a:t>•  Packages model, context, memory, tools and loop</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 agent turns a goal into verified task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Reason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tools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Observe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Finish / escalate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six building blocks of an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Reasoning</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Instructions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Memory</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Tools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Skills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Channels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Choose the technology by the work boundary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n8n</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Claude Code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Codex</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OpenClaw</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Hermes Agent</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Paperclip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AUTHENTIC TOOL 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n8n: visual orchestration with an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ai-agent-editor.png"/>
          <p:cNvPicPr>
            <a:picLocks noChangeAspect="1"/>
          </p:cNvPicPr>
          <p:nvPr/>
        </p:nvPicPr>
        <p:blipFill>
          <a:blip r:embed="rId2"/>
          <a:stretch>
            <a:fillRect/>
          </a:stretch>
        </p:blipFill>
        <p:spPr>
          <a:xfrm>
            <a:off x="2781506" y="1783080"/>
            <a:ext cx="6598508" cy="4069080"/>
          </a:xfrm>
          <a:prstGeom prst="rect">
            <a:avLst/>
          </a:prstGeom>
        </p:spPr>
      </p:pic>
      <p:sp>
        <p:nvSpPr>
          <p:cNvPr id="8" name="TextBox 7"/>
          <p:cNvSpPr txBox="1"/>
          <p:nvPr/>
        </p:nvSpPr>
        <p:spPr>
          <a:xfrm>
            <a:off x="914400" y="5897880"/>
            <a:ext cx="10332720" cy="320040"/>
          </a:xfrm>
          <a:prstGeom prst="rect">
            <a:avLst/>
          </a:prstGeom>
          <a:noFill/>
        </p:spPr>
        <p:txBody>
          <a:bodyPr wrap="square" anchor="t">
            <a:spAutoFit/>
          </a:bodyPr>
          <a:lstStyle/>
          <a:p>
            <a:pPr algn="ctr">
              <a:spcAft>
                <a:spcPts val="400"/>
              </a:spcAft>
            </a:pPr>
            <a:r>
              <a:rPr sz="1000" b="0">
                <a:solidFill>
                  <a:srgbClr val="5B6372"/>
                </a:solidFill>
                <a:latin typeface="Arial"/>
              </a:rPr>
              <a:t>n8n editor showing trigger, AI Agent, chat model, memory and tool ports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AUTHENTIC TOOL VIEWS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Coding agents operate on real repositories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ude-code-demo-2026.png"/>
          <p:cNvPicPr>
            <a:picLocks noChangeAspect="1"/>
          </p:cNvPicPr>
          <p:nvPr/>
        </p:nvPicPr>
        <p:blipFill>
          <a:blip r:embed="rId2"/>
          <a:stretch>
            <a:fillRect/>
          </a:stretch>
        </p:blipFill>
        <p:spPr>
          <a:xfrm>
            <a:off x="905256" y="2279271"/>
            <a:ext cx="4910328" cy="2765802"/>
          </a:xfrm>
          <a:prstGeom prst="rect">
            <a:avLst/>
          </a:prstGeom>
        </p:spPr>
      </p:pic>
      <p:sp>
        <p:nvSpPr>
          <p:cNvPr id="9" name="TextBox 8"/>
          <p:cNvSpPr txBox="1"/>
          <p:nvPr/>
        </p:nvSpPr>
        <p:spPr>
          <a:xfrm>
            <a:off x="960120" y="5532120"/>
            <a:ext cx="4800600" cy="411480"/>
          </a:xfrm>
          <a:prstGeom prst="rect">
            <a:avLst/>
          </a:prstGeom>
          <a:noFill/>
        </p:spPr>
        <p:txBody>
          <a:bodyPr wrap="square" anchor="t">
            <a:spAutoFit/>
          </a:bodyPr>
          <a:lstStyle/>
          <a:p>
            <a:pPr algn="ctr">
              <a:spcAft>
                <a:spcPts val="400"/>
              </a:spcAft>
            </a:pPr>
            <a:r>
              <a:rPr sz="1400" b="1">
                <a:solidFill>
                  <a:srgbClr val="7C3AED"/>
                </a:solidFill>
                <a:latin typeface="Arial"/>
              </a:rPr>
              <a:t>Claude Code</a:t>
            </a:r>
          </a:p>
        </p:txBody>
      </p:sp>
      <p:sp>
        <p:nvSpPr>
          <p:cNvPr id="10" name="Rectangle 9"/>
          <p:cNvSpPr/>
          <p:nvPr/>
        </p:nvSpPr>
        <p:spPr>
          <a:xfrm>
            <a:off x="6217920"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dex-app-demo-2026.png"/>
          <p:cNvPicPr>
            <a:picLocks noChangeAspect="1"/>
          </p:cNvPicPr>
          <p:nvPr/>
        </p:nvPicPr>
        <p:blipFill>
          <a:blip r:embed="rId3"/>
          <a:stretch>
            <a:fillRect/>
          </a:stretch>
        </p:blipFill>
        <p:spPr>
          <a:xfrm>
            <a:off x="6345936" y="2099185"/>
            <a:ext cx="4910328" cy="3125973"/>
          </a:xfrm>
          <a:prstGeom prst="rect">
            <a:avLst/>
          </a:prstGeom>
        </p:spPr>
      </p:pic>
      <p:sp>
        <p:nvSpPr>
          <p:cNvPr id="12" name="TextBox 11"/>
          <p:cNvSpPr txBox="1"/>
          <p:nvPr/>
        </p:nvSpPr>
        <p:spPr>
          <a:xfrm>
            <a:off x="6400800" y="5532120"/>
            <a:ext cx="4800600" cy="411480"/>
          </a:xfrm>
          <a:prstGeom prst="rect">
            <a:avLst/>
          </a:prstGeom>
          <a:noFill/>
        </p:spPr>
        <p:txBody>
          <a:bodyPr wrap="square" anchor="t">
            <a:spAutoFit/>
          </a:bodyPr>
          <a:lstStyle/>
          <a:p>
            <a:pPr algn="ctr">
              <a:spcAft>
                <a:spcPts val="400"/>
              </a:spcAft>
            </a:pPr>
            <a:r>
              <a:rPr sz="1400" b="1">
                <a:solidFill>
                  <a:srgbClr val="7C3AED"/>
                </a:solidFill>
                <a:latin typeface="Arial"/>
              </a:rPr>
              <a:t>Codex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AGENT ECOSYSTEM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Persistent runtimes and agent teams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oc-workspace-files.png"/>
          <p:cNvPicPr>
            <a:picLocks noChangeAspect="1"/>
          </p:cNvPicPr>
          <p:nvPr/>
        </p:nvPicPr>
        <p:blipFill>
          <a:blip r:embed="rId2"/>
          <a:stretch>
            <a:fillRect/>
          </a:stretch>
        </p:blipFill>
        <p:spPr>
          <a:xfrm>
            <a:off x="905256" y="2370756"/>
            <a:ext cx="4910328" cy="2582832"/>
          </a:xfrm>
          <a:prstGeom prst="rect">
            <a:avLst/>
          </a:prstGeom>
        </p:spPr>
      </p:pic>
      <p:sp>
        <p:nvSpPr>
          <p:cNvPr id="9" name="TextBox 8"/>
          <p:cNvSpPr txBox="1"/>
          <p:nvPr/>
        </p:nvSpPr>
        <p:spPr>
          <a:xfrm>
            <a:off x="960120" y="5532120"/>
            <a:ext cx="4800600" cy="411480"/>
          </a:xfrm>
          <a:prstGeom prst="rect">
            <a:avLst/>
          </a:prstGeom>
          <a:noFill/>
        </p:spPr>
        <p:txBody>
          <a:bodyPr wrap="square" anchor="t">
            <a:spAutoFit/>
          </a:bodyPr>
          <a:lstStyle/>
          <a:p>
            <a:pPr algn="ctr">
              <a:spcAft>
                <a:spcPts val="400"/>
              </a:spcAft>
            </a:pPr>
            <a:r>
              <a:rPr sz="1400" b="1">
                <a:solidFill>
                  <a:srgbClr val="7C3AED"/>
                </a:solidFill>
                <a:latin typeface="Arial"/>
              </a:rPr>
              <a:t>OpenClaw workspace</a:t>
            </a:r>
          </a:p>
        </p:txBody>
      </p:sp>
      <p:sp>
        <p:nvSpPr>
          <p:cNvPr id="10" name="Rectangle 9"/>
          <p:cNvSpPr/>
          <p:nvPr/>
        </p:nvSpPr>
        <p:spPr>
          <a:xfrm>
            <a:off x="6217920"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c-dashboard.png"/>
          <p:cNvPicPr>
            <a:picLocks noChangeAspect="1"/>
          </p:cNvPicPr>
          <p:nvPr/>
        </p:nvPicPr>
        <p:blipFill>
          <a:blip r:embed="rId3"/>
          <a:stretch>
            <a:fillRect/>
          </a:stretch>
        </p:blipFill>
        <p:spPr>
          <a:xfrm>
            <a:off x="6345936" y="2127694"/>
            <a:ext cx="4910328" cy="3068955"/>
          </a:xfrm>
          <a:prstGeom prst="rect">
            <a:avLst/>
          </a:prstGeom>
        </p:spPr>
      </p:pic>
      <p:sp>
        <p:nvSpPr>
          <p:cNvPr id="12" name="TextBox 11"/>
          <p:cNvSpPr txBox="1"/>
          <p:nvPr/>
        </p:nvSpPr>
        <p:spPr>
          <a:xfrm>
            <a:off x="6400800" y="5532120"/>
            <a:ext cx="4800600" cy="411480"/>
          </a:xfrm>
          <a:prstGeom prst="rect">
            <a:avLst/>
          </a:prstGeom>
          <a:noFill/>
        </p:spPr>
        <p:txBody>
          <a:bodyPr wrap="square" anchor="t">
            <a:spAutoFit/>
          </a:bodyPr>
          <a:lstStyle/>
          <a:p>
            <a:pPr algn="ctr">
              <a:spcAft>
                <a:spcPts val="400"/>
              </a:spcAft>
            </a:pPr>
            <a:r>
              <a:rPr sz="1400" b="1">
                <a:solidFill>
                  <a:srgbClr val="7C3AED"/>
                </a:solidFill>
                <a:latin typeface="Arial"/>
              </a:rPr>
              <a:t>Paperclip agent orchestration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LO2-LO3 · Topic 2 · PRACTICE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an Agentic Lead-Triage Workflow in n8n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Build a controlled n8n workflow that receives a lead, asks an AI agent to classify intent and urgency, routes the result, records the decision and pauses high-value actions for approval.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lead-triage workflow with structured AI output, deterministic routing, audit data and human approval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n8n Form Trigger, AI Agent, Chat Model, Structured Output Parser, Switch, Data 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N8N · CONTROLLED AGENTIC LOOP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Governed Lead-Triage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Receive form</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Classify to schema</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Validate confidence</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Route deterministically</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Approve or queue</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Write audit record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LO2-LO3 · Topic 2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an Agentic Lead-Triage Workflow in n8n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All four test leads finish in the expected branch, every decision is logged, low-confidence or consequential actions require approval, and no unapproved external message is sent.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CHECK YOUR UNDERSTANDING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2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decision</a:t>
            </a:r>
          </a:p>
          <a:p>
            <a:pPr algn="l">
              <a:spcAft>
                <a:spcPts val="300"/>
              </a:spcAft>
            </a:pPr>
            <a:r>
              <a:rPr sz="1100" b="0">
                <a:solidFill>
                  <a:srgbClr val="5B6372"/>
                </a:solidFill>
                <a:latin typeface="Arial"/>
              </a:rPr>
              <a:t>LLMs · models, workflows and agents · n8n · Claude Code · Codex · OpenClaw · Hermes · Paperclip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Capability</a:t>
            </a:r>
          </a:p>
          <a:p>
            <a:pPr algn="l">
              <a:spcAft>
                <a:spcPts val="300"/>
              </a:spcAft>
            </a:pPr>
            <a:r>
              <a:rPr sz="1100" b="0">
                <a:solidFill>
                  <a:srgbClr val="5B6372"/>
                </a:solidFill>
                <a:latin typeface="Arial"/>
              </a:rPr>
              <a:t>Identify and apply a suitable agentic-AI technology to a business workflow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a:t>
            </a:r>
          </a:p>
          <a:p>
            <a:pPr algn="l">
              <a:spcAft>
                <a:spcPts val="300"/>
              </a:spcAft>
            </a:pPr>
            <a:r>
              <a:rPr sz="1100" b="0">
                <a:solidFill>
                  <a:srgbClr val="5B6372"/>
                </a:solidFill>
                <a:latin typeface="Arial"/>
              </a:rPr>
              <a:t>Humans retain accountability for consequential outcomes.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a:t>
            </a:r>
          </a:p>
          <a:p>
            <a:pPr algn="l">
              <a:spcAft>
                <a:spcPts val="300"/>
              </a:spcAft>
            </a:pPr>
            <a:r>
              <a:rPr sz="1100" b="0">
                <a:solidFill>
                  <a:srgbClr val="5B6372"/>
                </a:solidFill>
                <a:latin typeface="Arial"/>
              </a:rPr>
              <a:t>Use logs, tests and measurable acceptance criteria.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Context, Harness and Loop Engineering for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Context · memory · instructions · tools · permissions · tests · oversight · iteration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Context engineering</a:t>
            </a:r>
          </a:p>
          <a:p>
            <a:pPr algn="l">
              <a:spcAft>
                <a:spcPts val="300"/>
              </a:spcAft>
            </a:pPr>
            <a:r>
              <a:rPr sz="1100" b="0">
                <a:solidFill>
                  <a:srgbClr val="5B6372"/>
                </a:solidFill>
                <a:latin typeface="Arial"/>
              </a:rPr>
              <a:t>Select the right instructions, knowledge, memory and current state for each step.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Memory design</a:t>
            </a:r>
          </a:p>
          <a:p>
            <a:pPr algn="l">
              <a:spcAft>
                <a:spcPts val="300"/>
              </a:spcAft>
            </a:pPr>
            <a:r>
              <a:rPr sz="1100" b="0">
                <a:solidFill>
                  <a:srgbClr val="5B6372"/>
                </a:solidFill>
                <a:latin typeface="Arial"/>
              </a:rPr>
              <a:t>Separate working memory, durable preferences, business records and audit history.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Harness engineering</a:t>
            </a:r>
          </a:p>
          <a:p>
            <a:pPr algn="l">
              <a:spcAft>
                <a:spcPts val="300"/>
              </a:spcAft>
            </a:pPr>
            <a:r>
              <a:rPr sz="1100" b="0">
                <a:solidFill>
                  <a:srgbClr val="5B6372"/>
                </a:solidFill>
                <a:latin typeface="Arial"/>
              </a:rPr>
              <a:t>Shape the environment: permissions, tools, workflow, tests, logs and approvals.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Agentic loop</a:t>
            </a:r>
          </a:p>
          <a:p>
            <a:pPr algn="l">
              <a:spcAft>
                <a:spcPts val="300"/>
              </a:spcAft>
            </a:pPr>
            <a:r>
              <a:rPr sz="1100" b="0">
                <a:solidFill>
                  <a:srgbClr val="5B6372"/>
                </a:solidFill>
                <a:latin typeface="Arial"/>
              </a:rPr>
              <a:t>Plan → act → observe → evaluate → improve or stop.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Controls</a:t>
            </a:r>
          </a:p>
          <a:p>
            <a:pPr algn="l">
              <a:spcAft>
                <a:spcPts val="300"/>
              </a:spcAft>
            </a:pPr>
            <a:r>
              <a:rPr sz="1100" b="0">
                <a:solidFill>
                  <a:srgbClr val="5B6372"/>
                </a:solidFill>
                <a:latin typeface="Arial"/>
              </a:rPr>
              <a:t>Least privilege, allowlists, budgets, timeouts, idempotency, checkpoints and kill switches.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Human oversight</a:t>
            </a:r>
          </a:p>
          <a:p>
            <a:pPr algn="l">
              <a:spcAft>
                <a:spcPts val="300"/>
              </a:spcAft>
            </a:pPr>
            <a:r>
              <a:rPr sz="1100" b="0">
                <a:solidFill>
                  <a:srgbClr val="5B6372"/>
                </a:solidFill>
                <a:latin typeface="Arial"/>
              </a:rPr>
              <a:t>Humans set intent, approve consequential actions and resolve ambiguous outcomes.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3.1 Concept Lens — Context engineering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Select the right instructions, knowledge, memory and current state for each step.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context engineering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3.2 Concept Lens — Memory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Separate working memory, durable preferences, business records and audit history.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memory design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3.3 Concept Lens — Harness engineering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Shape the environment: permissions, tools, workflow, tests, logs and approvals.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harness engineering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3.4 Concept Lens — Agentic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Plan → act → observe → evaluate → improve or stop.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agentic loop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3.5 Concept Lens —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Least privilege, allowlists, budgets, timeouts, idempotency, checkpoints and kill switches.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controls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3.6 Concept Lens — Human oversight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Humans set intent, approve consequential actions and resolve ambiguous outcomes.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human oversight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3.F1 Framework — Context stack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Layer system instructions, task goal, constraints, source knowledge, current state, memory, examples and tool results.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stack to keep the working set relevant and to separate durable rules from temporary information.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More context is not always better; irrelevant or conflicting material can reduce reliability.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FRAMEWORK APPLICATION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Context stack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Context stack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Context stack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3.F2 Framework — Memory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capture, validation, storage, retrieval, update, expiry and deletion for every memory type.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lifecycle to distinguish working notes, approved preferences, business records and audit history.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 not store secrets, uncertain claims or personal data merely because an agent can remember them.</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FRAMEWORK APPLICATION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Memory lifecycle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Memory lifecycle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Memory lifecycle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3.F3 Framework — Harness control plane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Combine permissions, tool schemas, workflow state, sandboxes, tests, evaluators, logs, approvals and recovery paths.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control plane to make the safe action the easiest action for the agent.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policy written only in prose is weak if the environment still permits the prohibited action.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FRAMEWORK APPLICATION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Harness control plane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Harness control plane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Harness control plane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3.F4 Framework — Loop state machine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Represent planning, action, observation, evaluation, retry, escalation, completion and stop as explicit states.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state transitions to make retries, budgets and ownership observable.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Unbounded retries create duplicate actions, cost and noise; every loop needs a stop condition.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FRAMEWORK APPLICATION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Loop state machine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Loop state machine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Loop state machine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3.1 — Conflicting policy sources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knowledge-work agent receives two leave policies with different effective dates and produces a confident answer.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Redesign context selection, source priority, evaluation and escalation so the conflict is visible.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3.2 — Duplicate customer update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tool call times out after sending an email, so the agent retries and sends the message twice.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Specify idempotency, observation and retry controls that prevent the duplicate effect.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3.3 — Memory without governance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agent saves every conversation as durable memory, including tentative claims and personal information.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memory categories, validation, retention and deletion rules.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Reliable agents need three engineering layers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Context</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Harness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Loop</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Governance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Context is a designed working 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Goal and constraints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Relevant knowledge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Current state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Durable memory</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Tool results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Examples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harness makes good behaviour easier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Scoped permissions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Tool contracts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Workflow state</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Tests and evaluators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Logs and traces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Human checkpoints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loop must know when to continue and when to stop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Act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Observe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Evaluate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Improve / stop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Controls prevent expensive or repetitive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Least privilege</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Action allowlists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Budgets and timeouts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Idempotency</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Loop limits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Kill switch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AUTHENTIC PRODUCT VIEWS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Knowledge-work agents need context and control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ude-cowork-2026.png"/>
          <p:cNvPicPr>
            <a:picLocks noChangeAspect="1"/>
          </p:cNvPicPr>
          <p:nvPr/>
        </p:nvPicPr>
        <p:blipFill>
          <a:blip r:embed="rId2"/>
          <a:stretch>
            <a:fillRect/>
          </a:stretch>
        </p:blipFill>
        <p:spPr>
          <a:xfrm>
            <a:off x="1582188" y="1901952"/>
            <a:ext cx="3556463" cy="3520440"/>
          </a:xfrm>
          <a:prstGeom prst="rect">
            <a:avLst/>
          </a:prstGeom>
        </p:spPr>
      </p:pic>
      <p:sp>
        <p:nvSpPr>
          <p:cNvPr id="9" name="TextBox 8"/>
          <p:cNvSpPr txBox="1"/>
          <p:nvPr/>
        </p:nvSpPr>
        <p:spPr>
          <a:xfrm>
            <a:off x="960120" y="5532120"/>
            <a:ext cx="4800600" cy="411480"/>
          </a:xfrm>
          <a:prstGeom prst="rect">
            <a:avLst/>
          </a:prstGeom>
          <a:noFill/>
        </p:spPr>
        <p:txBody>
          <a:bodyPr wrap="square" anchor="t">
            <a:spAutoFit/>
          </a:bodyPr>
          <a:lstStyle/>
          <a:p>
            <a:pPr algn="ctr">
              <a:spcAft>
                <a:spcPts val="400"/>
              </a:spcAft>
            </a:pPr>
            <a:r>
              <a:rPr sz="1400" b="1">
                <a:solidFill>
                  <a:srgbClr val="7C3AED"/>
                </a:solidFill>
                <a:latin typeface="Arial"/>
              </a:rPr>
              <a:t>Claude Cowork</a:t>
            </a:r>
          </a:p>
        </p:txBody>
      </p:sp>
      <p:sp>
        <p:nvSpPr>
          <p:cNvPr id="10" name="Rectangle 9"/>
          <p:cNvSpPr/>
          <p:nvPr/>
        </p:nvSpPr>
        <p:spPr>
          <a:xfrm>
            <a:off x="6217920"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atgpt-work-2026.png"/>
          <p:cNvPicPr>
            <a:picLocks noChangeAspect="1"/>
          </p:cNvPicPr>
          <p:nvPr/>
        </p:nvPicPr>
        <p:blipFill>
          <a:blip r:embed="rId3"/>
          <a:stretch>
            <a:fillRect/>
          </a:stretch>
        </p:blipFill>
        <p:spPr>
          <a:xfrm>
            <a:off x="6345936" y="2262729"/>
            <a:ext cx="4910328" cy="2798886"/>
          </a:xfrm>
          <a:prstGeom prst="rect">
            <a:avLst/>
          </a:prstGeom>
        </p:spPr>
      </p:pic>
      <p:sp>
        <p:nvSpPr>
          <p:cNvPr id="12" name="TextBox 11"/>
          <p:cNvSpPr txBox="1"/>
          <p:nvPr/>
        </p:nvSpPr>
        <p:spPr>
          <a:xfrm>
            <a:off x="6400800" y="5532120"/>
            <a:ext cx="4800600" cy="411480"/>
          </a:xfrm>
          <a:prstGeom prst="rect">
            <a:avLst/>
          </a:prstGeom>
          <a:noFill/>
        </p:spPr>
        <p:txBody>
          <a:bodyPr wrap="square" anchor="t">
            <a:spAutoFit/>
          </a:bodyPr>
          <a:lstStyle/>
          <a:p>
            <a:pPr algn="ctr">
              <a:spcAft>
                <a:spcPts val="400"/>
              </a:spcAft>
            </a:pPr>
            <a:r>
              <a:rPr sz="1400" b="1">
                <a:solidFill>
                  <a:srgbClr val="7C3AED"/>
                </a:solidFill>
                <a:latin typeface="Arial"/>
              </a:rPr>
              <a:t>ChatGPT Work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LO3-LO4 · Topic 3 · PRACTICE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Delegate Knowledge Work with Claude Cowork and ChatGPT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Give the same business brief to Claude Cowork and ChatGPT Work, request a decision memo and action register, then compare how each system handles files, context, tool use, progress and approvals.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Two evidence-grounded deliverables plus a context-and-harness comparison scorecard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Cowork, ChatGPT Work, local files, connected apps where authorised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OBSERVE · COMPARE · IMPROVE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Compare the work harness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ude-cowork-2026.png"/>
          <p:cNvPicPr>
            <a:picLocks noChangeAspect="1"/>
          </p:cNvPicPr>
          <p:nvPr/>
        </p:nvPicPr>
        <p:blipFill>
          <a:blip r:embed="rId2"/>
          <a:stretch>
            <a:fillRect/>
          </a:stretch>
        </p:blipFill>
        <p:spPr>
          <a:xfrm>
            <a:off x="1582188" y="1901952"/>
            <a:ext cx="3556463" cy="3520440"/>
          </a:xfrm>
          <a:prstGeom prst="rect">
            <a:avLst/>
          </a:prstGeom>
        </p:spPr>
      </p:pic>
      <p:sp>
        <p:nvSpPr>
          <p:cNvPr id="9" name="TextBox 8"/>
          <p:cNvSpPr txBox="1"/>
          <p:nvPr/>
        </p:nvSpPr>
        <p:spPr>
          <a:xfrm>
            <a:off x="960120" y="5532120"/>
            <a:ext cx="4800600" cy="411480"/>
          </a:xfrm>
          <a:prstGeom prst="rect">
            <a:avLst/>
          </a:prstGeom>
          <a:noFill/>
        </p:spPr>
        <p:txBody>
          <a:bodyPr wrap="square" anchor="t">
            <a:spAutoFit/>
          </a:bodyPr>
          <a:lstStyle/>
          <a:p>
            <a:pPr algn="ctr">
              <a:spcAft>
                <a:spcPts val="400"/>
              </a:spcAft>
            </a:pPr>
            <a:r>
              <a:rPr sz="1400" b="1">
                <a:solidFill>
                  <a:srgbClr val="7C3AED"/>
                </a:solidFill>
                <a:latin typeface="Arial"/>
              </a:rPr>
              <a:t>Claude Cowork</a:t>
            </a:r>
          </a:p>
        </p:txBody>
      </p:sp>
      <p:sp>
        <p:nvSpPr>
          <p:cNvPr id="10" name="Rectangle 9"/>
          <p:cNvSpPr/>
          <p:nvPr/>
        </p:nvSpPr>
        <p:spPr>
          <a:xfrm>
            <a:off x="6217920"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atgpt-work-2026.png"/>
          <p:cNvPicPr>
            <a:picLocks noChangeAspect="1"/>
          </p:cNvPicPr>
          <p:nvPr/>
        </p:nvPicPr>
        <p:blipFill>
          <a:blip r:embed="rId3"/>
          <a:stretch>
            <a:fillRect/>
          </a:stretch>
        </p:blipFill>
        <p:spPr>
          <a:xfrm>
            <a:off x="6345936" y="2262729"/>
            <a:ext cx="4910328" cy="2798886"/>
          </a:xfrm>
          <a:prstGeom prst="rect">
            <a:avLst/>
          </a:prstGeom>
        </p:spPr>
      </p:pic>
      <p:sp>
        <p:nvSpPr>
          <p:cNvPr id="12" name="TextBox 11"/>
          <p:cNvSpPr txBox="1"/>
          <p:nvPr/>
        </p:nvSpPr>
        <p:spPr>
          <a:xfrm>
            <a:off x="6400800" y="5532120"/>
            <a:ext cx="4800600" cy="411480"/>
          </a:xfrm>
          <a:prstGeom prst="rect">
            <a:avLst/>
          </a:prstGeom>
          <a:noFill/>
        </p:spPr>
        <p:txBody>
          <a:bodyPr wrap="square" anchor="t">
            <a:spAutoFit/>
          </a:bodyPr>
          <a:lstStyle/>
          <a:p>
            <a:pPr algn="ctr">
              <a:spcAft>
                <a:spcPts val="400"/>
              </a:spcAft>
            </a:pPr>
            <a:r>
              <a:rPr sz="1400" b="1">
                <a:solidFill>
                  <a:srgbClr val="7C3AED"/>
                </a:solidFill>
                <a:latin typeface="Arial"/>
              </a:rPr>
              <a:t>ChatGPT Work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LO3-LO4 · Topic 3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Delegate Knowledge Work with Claude Cowork and ChatGPT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Both deliverables trace claims to supplied sources, no unapproved external action occurs, the scorecard distinguishes context from harness quality, and the rerun improves a recorded acceptance measure.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CHECK YOUR UNDERSTANDING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3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decision</a:t>
            </a:r>
          </a:p>
          <a:p>
            <a:pPr algn="l">
              <a:spcAft>
                <a:spcPts val="300"/>
              </a:spcAft>
            </a:pPr>
            <a:r>
              <a:rPr sz="1100" b="0">
                <a:solidFill>
                  <a:srgbClr val="5B6372"/>
                </a:solidFill>
                <a:latin typeface="Arial"/>
              </a:rPr>
              <a:t>Context · memory · instructions · tools · permissions · tests · oversight · iteration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Capability</a:t>
            </a:r>
          </a:p>
          <a:p>
            <a:pPr algn="l">
              <a:spcAft>
                <a:spcPts val="300"/>
              </a:spcAft>
            </a:pPr>
            <a:r>
              <a:rPr sz="1100" b="0">
                <a:solidFill>
                  <a:srgbClr val="5B6372"/>
                </a:solidFill>
                <a:latin typeface="Arial"/>
              </a:rPr>
              <a:t>Design context, instructions, tools and human checkpoints for reliable knowledge work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a:t>
            </a:r>
          </a:p>
          <a:p>
            <a:pPr algn="l">
              <a:spcAft>
                <a:spcPts val="300"/>
              </a:spcAft>
            </a:pPr>
            <a:r>
              <a:rPr sz="1100" b="0">
                <a:solidFill>
                  <a:srgbClr val="5B6372"/>
                </a:solidFill>
                <a:latin typeface="Arial"/>
              </a:rPr>
              <a:t>Humans retain accountability for consequential outcomes.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a:t>
            </a:r>
          </a:p>
          <a:p>
            <a:pPr algn="l">
              <a:spcAft>
                <a:spcPts val="300"/>
              </a:spcAft>
            </a:pPr>
            <a:r>
              <a:rPr sz="1100" b="0">
                <a:solidFill>
                  <a:srgbClr val="5B6372"/>
                </a:solidFill>
                <a:latin typeface="Arial"/>
              </a:rPr>
              <a:t>Use logs, tests and measurable acceptance criteria.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Business Opportunities and Innovative Agentic AI Use Cases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Digital workers · natural-language interfaces · cross-system workflows · functional value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Administration</a:t>
            </a:r>
          </a:p>
          <a:p>
            <a:pPr algn="l">
              <a:spcAft>
                <a:spcPts val="300"/>
              </a:spcAft>
            </a:pPr>
            <a:r>
              <a:rPr sz="1100" b="0">
                <a:solidFill>
                  <a:srgbClr val="5B6372"/>
                </a:solidFill>
                <a:latin typeface="Arial"/>
              </a:rPr>
              <a:t>Prepare documents, reconcile records, schedule follow-ups and route approvals.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Marketing</a:t>
            </a:r>
          </a:p>
          <a:p>
            <a:pPr algn="l">
              <a:spcAft>
                <a:spcPts val="300"/>
              </a:spcAft>
            </a:pPr>
            <a:r>
              <a:rPr sz="1100" b="0">
                <a:solidFill>
                  <a:srgbClr val="5B6372"/>
                </a:solidFill>
                <a:latin typeface="Arial"/>
              </a:rPr>
              <a:t>Research markets, create campaigns, generate video and learn from performance.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Sales</a:t>
            </a:r>
          </a:p>
          <a:p>
            <a:pPr algn="l">
              <a:spcAft>
                <a:spcPts val="300"/>
              </a:spcAft>
            </a:pPr>
            <a:r>
              <a:rPr sz="1100" b="0">
                <a:solidFill>
                  <a:srgbClr val="5B6372"/>
                </a:solidFill>
                <a:latin typeface="Arial"/>
              </a:rPr>
              <a:t>Enrich leads, draft outreach, update CRM and surface next-best actions.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Customer service</a:t>
            </a:r>
          </a:p>
          <a:p>
            <a:pPr algn="l">
              <a:spcAft>
                <a:spcPts val="300"/>
              </a:spcAft>
            </a:pPr>
            <a:r>
              <a:rPr sz="1100" b="0">
                <a:solidFill>
                  <a:srgbClr val="5B6372"/>
                </a:solidFill>
                <a:latin typeface="Arial"/>
              </a:rPr>
              <a:t>Retrieve knowledge, resolve routine cases and escalate exceptions with context.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Operations</a:t>
            </a:r>
          </a:p>
          <a:p>
            <a:pPr algn="l">
              <a:spcAft>
                <a:spcPts val="300"/>
              </a:spcAft>
            </a:pPr>
            <a:r>
              <a:rPr sz="1100" b="0">
                <a:solidFill>
                  <a:srgbClr val="5B6372"/>
                </a:solidFill>
                <a:latin typeface="Arial"/>
              </a:rPr>
              <a:t>Monitor events, coordinate systems, investigate anomalies and trigger playbooks.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Natural-language operations</a:t>
            </a:r>
          </a:p>
          <a:p>
            <a:pPr algn="l">
              <a:spcAft>
                <a:spcPts val="300"/>
              </a:spcAft>
            </a:pPr>
            <a:r>
              <a:rPr sz="1100" b="0">
                <a:solidFill>
                  <a:srgbClr val="5B6372"/>
                </a:solidFill>
                <a:latin typeface="Arial"/>
              </a:rPr>
              <a:t>People state intent; agents translate it into controlled software actions.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4.1 Concept Lens — Administration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Prepare documents, reconcile records, schedule follow-ups and route approvals.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administration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4.2 Concept Lens —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Research markets, create campaigns, generate video and learn from performance.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marketing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4.3 Concept Lens — Sales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Enrich leads, draft outreach, update CRM and surface next-best actions.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sales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4.4 Concept Lens — Customer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Retrieve knowledge, resolve routine cases and escalate exceptions with context.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customer service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4.5 Concept Lens —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Monitor events, coordinate systems, investigate anomalies and trigger playbooks.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operations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4.6 Concept Lens — Natural-language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People state intent; agents translate it into controlled software actions.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natural-language operations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4.F1 Framework — Opportunity discovery lens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Look for volume, repeated hand-offs, search across sources, frequent drafting, rules with exceptions and measurable delays.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lens during interviews and process walks to find friction that staff have normalised.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High frequency alone is not enough; the outcome must matter and the process must be governable.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FRAMEWORK APPLICATION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Opportunity discovery lens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Opportunity discovery lens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Opportunity discovery lens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4.F2 Framework — Digital-worker canvas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Document customer, trigger, goal, inputs, decisions, tools, outputs, owner, controls, metrics and exceptions on one page.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canvas to align business and technical teams before prototyping.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 not begin integration work while the owner, success measure or prohibited actions remain unclear.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FRAMEWORK APPLICATION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Digital-worker canvas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Digital-worker canvas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Digital-worker canvas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4.F3 Framework — Natural-language control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Translate human intent into a proposed plan, validated tool calls, previewed consequential actions and an auditable outcome.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this model when an agent becomes the interface to multiple applications or datasets.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Natural language is ambiguous; confirmations and structured parameters remain necessary.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FRAMEWORK APPLICATION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Apply Natural-language control model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Natural-language control model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Natural-language control model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4.F4 Framework — Functional use-case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Compare administration, marketing, sales, customer service, operations and management opportunities using shared criteria.</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map to create a balanced portfolio instead of concentrating all pilots in content generation.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Avoid counting the same underlying workflow as several separate use cases.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FRAMEWORK APPLICATION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Functional use-case map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Functional use-case map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Functional use-case map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4.1 — Administration digital worker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finance team reconciles invoices, purchase orders and approvals across email, spreadsheets and an ERP.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Identify the high-value agent boundary and the transactions that still require approval.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4.2 — Customer-service interface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Customers describe problems in natural language; the agent searches knowledge, checks account status and proposes resolution.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hand-off between retrieval, tool use, confidence, escalation and customer communication.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4.3 — Operations exception coordinator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logistics agent monitors late events, investigates supporting data and proposes rerouting options.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metrics, tool permissions and incident controls for a pilot.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workers coordinate across the system of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Intent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Business context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Apps and data</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Approval</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Outcome + audit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Look for work with volume, friction and clear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Repeated hand-offs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Search across sources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Frequent drafting</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Rules plus exceptions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Cross-system updates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Measurable cycle time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 natural-language interface changes who can operate software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Before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Learn each application</a:t>
            </a:r>
          </a:p>
          <a:p>
            <a:pPr>
              <a:spcAft>
                <a:spcPts val="900"/>
              </a:spcAft>
            </a:pPr>
            <a:r>
              <a:rPr sz="1400" b="0">
                <a:solidFill>
                  <a:srgbClr val="161B26"/>
                </a:solidFill>
                <a:latin typeface="Arial"/>
              </a:rPr>
              <a:t>•  People translate intent into clicks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With agents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State goal and constraints</a:t>
            </a:r>
          </a:p>
          <a:p>
            <a:pPr>
              <a:spcAft>
                <a:spcPts val="900"/>
              </a:spcAft>
            </a:pPr>
            <a:r>
              <a:rPr sz="1400" b="0">
                <a:solidFill>
                  <a:srgbClr val="161B26"/>
                </a:solidFill>
                <a:latin typeface="Arial"/>
              </a:rPr>
              <a:t>•  Agent translates intent into tool calls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Control</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Preview consequential actions</a:t>
            </a:r>
          </a:p>
          <a:p>
            <a:pPr>
              <a:spcAft>
                <a:spcPts val="900"/>
              </a:spcAft>
            </a:pPr>
            <a:r>
              <a:rPr sz="1400" b="0">
                <a:solidFill>
                  <a:srgbClr val="161B26"/>
                </a:solidFill>
                <a:latin typeface="Arial"/>
              </a:rPr>
              <a:t>•  Human remains accountable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Opportunity map across business functions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Administration</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Marketing</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Sales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Customer service</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Operations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Management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LO2-LO4 · Topic 4 · PRACTICE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Build an AI Opportunity Scoring App with Claude Code and Codex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Use Claude Code and Codex on the same repository to build and verify a small browser app that scores business opportunities by value, feasibility, risk and human-oversight needs.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responsive opportunity-scoring web app with tests, sample data, README and review evidence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Code, Codex, HTML/CSS/JavaScript, local browser, Git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PLAN · EDIT · TEST · REVIEW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Build, review and verify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ude-code-demo-2026.png"/>
          <p:cNvPicPr>
            <a:picLocks noChangeAspect="1"/>
          </p:cNvPicPr>
          <p:nvPr/>
        </p:nvPicPr>
        <p:blipFill>
          <a:blip r:embed="rId2"/>
          <a:stretch>
            <a:fillRect/>
          </a:stretch>
        </p:blipFill>
        <p:spPr>
          <a:xfrm>
            <a:off x="905256" y="2279271"/>
            <a:ext cx="4910328" cy="2765802"/>
          </a:xfrm>
          <a:prstGeom prst="rect">
            <a:avLst/>
          </a:prstGeom>
        </p:spPr>
      </p:pic>
      <p:sp>
        <p:nvSpPr>
          <p:cNvPr id="9" name="TextBox 8"/>
          <p:cNvSpPr txBox="1"/>
          <p:nvPr/>
        </p:nvSpPr>
        <p:spPr>
          <a:xfrm>
            <a:off x="960120" y="5532120"/>
            <a:ext cx="4800600" cy="411480"/>
          </a:xfrm>
          <a:prstGeom prst="rect">
            <a:avLst/>
          </a:prstGeom>
          <a:noFill/>
        </p:spPr>
        <p:txBody>
          <a:bodyPr wrap="square" anchor="t">
            <a:spAutoFit/>
          </a:bodyPr>
          <a:lstStyle/>
          <a:p>
            <a:pPr algn="ctr">
              <a:spcAft>
                <a:spcPts val="400"/>
              </a:spcAft>
            </a:pPr>
            <a:r>
              <a:rPr sz="1400" b="1">
                <a:solidFill>
                  <a:srgbClr val="7C3AED"/>
                </a:solidFill>
                <a:latin typeface="Arial"/>
              </a:rPr>
              <a:t>Claude Code</a:t>
            </a:r>
          </a:p>
        </p:txBody>
      </p:sp>
      <p:sp>
        <p:nvSpPr>
          <p:cNvPr id="10" name="Rectangle 9"/>
          <p:cNvSpPr/>
          <p:nvPr/>
        </p:nvSpPr>
        <p:spPr>
          <a:xfrm>
            <a:off x="6217920"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dex-app-demo-2026.png"/>
          <p:cNvPicPr>
            <a:picLocks noChangeAspect="1"/>
          </p:cNvPicPr>
          <p:nvPr/>
        </p:nvPicPr>
        <p:blipFill>
          <a:blip r:embed="rId3"/>
          <a:stretch>
            <a:fillRect/>
          </a:stretch>
        </p:blipFill>
        <p:spPr>
          <a:xfrm>
            <a:off x="6345936" y="2099185"/>
            <a:ext cx="4910328" cy="3125973"/>
          </a:xfrm>
          <a:prstGeom prst="rect">
            <a:avLst/>
          </a:prstGeom>
        </p:spPr>
      </p:pic>
      <p:sp>
        <p:nvSpPr>
          <p:cNvPr id="12" name="TextBox 11"/>
          <p:cNvSpPr txBox="1"/>
          <p:nvPr/>
        </p:nvSpPr>
        <p:spPr>
          <a:xfrm>
            <a:off x="6400800" y="5532120"/>
            <a:ext cx="4800600" cy="411480"/>
          </a:xfrm>
          <a:prstGeom prst="rect">
            <a:avLst/>
          </a:prstGeom>
          <a:noFill/>
        </p:spPr>
        <p:txBody>
          <a:bodyPr wrap="square" anchor="t">
            <a:spAutoFit/>
          </a:bodyPr>
          <a:lstStyle/>
          <a:p>
            <a:pPr algn="ctr">
              <a:spcAft>
                <a:spcPts val="400"/>
              </a:spcAft>
            </a:pPr>
            <a:r>
              <a:rPr sz="1400" b="1">
                <a:solidFill>
                  <a:srgbClr val="7C3AED"/>
                </a:solidFill>
                <a:latin typeface="Arial"/>
              </a:rPr>
              <a:t>Codex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LO2-LO4 · Topic 4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Build an AI Opportunity Scoring App with Claude Code and Codex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app calculates the documented score, works at desktop and mobile widths, handles invalid inputs, passes its checks, and the final diff was reviewed by a human before acceptance.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CHECK YOUR UNDERSTANDING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4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decision</a:t>
            </a:r>
          </a:p>
          <a:p>
            <a:pPr algn="l">
              <a:spcAft>
                <a:spcPts val="300"/>
              </a:spcAft>
            </a:pPr>
            <a:r>
              <a:rPr sz="1100" b="0">
                <a:solidFill>
                  <a:srgbClr val="5B6372"/>
                </a:solidFill>
                <a:latin typeface="Arial"/>
              </a:rPr>
              <a:t>Digital workers · natural-language interfaces · cross-system workflows · functional value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Capability</a:t>
            </a:r>
          </a:p>
          <a:p>
            <a:pPr algn="l">
              <a:spcAft>
                <a:spcPts val="300"/>
              </a:spcAft>
            </a:pPr>
            <a:r>
              <a:rPr sz="1100" b="0">
                <a:solidFill>
                  <a:srgbClr val="5B6372"/>
                </a:solidFill>
                <a:latin typeface="Arial"/>
              </a:rPr>
              <a:t>Prototype an AI-enabled natural-language interface and compare coding-agent workflows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a:t>
            </a:r>
          </a:p>
          <a:p>
            <a:pPr algn="l">
              <a:spcAft>
                <a:spcPts val="300"/>
              </a:spcAft>
            </a:pPr>
            <a:r>
              <a:rPr sz="1100" b="0">
                <a:solidFill>
                  <a:srgbClr val="5B6372"/>
                </a:solidFill>
                <a:latin typeface="Arial"/>
              </a:rPr>
              <a:t>Humans retain accountability for consequential outcomes.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a:t>
            </a:r>
          </a:p>
          <a:p>
            <a:pPr algn="l">
              <a:spcAft>
                <a:spcPts val="300"/>
              </a:spcAft>
            </a:pPr>
            <a:r>
              <a:rPr sz="1100" b="0">
                <a:solidFill>
                  <a:srgbClr val="5B6372"/>
                </a:solidFill>
                <a:latin typeface="Arial"/>
              </a:rPr>
              <a:t>Use logs, tests and measurable acceptance criteria.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Evaluating and Implementing AI-Driven Business Innovation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Value and feasibility · process redesign · prototype · measurement · roadmap · governance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Value</a:t>
            </a:r>
          </a:p>
          <a:p>
            <a:pPr algn="l">
              <a:spcAft>
                <a:spcPts val="300"/>
              </a:spcAft>
            </a:pPr>
            <a:r>
              <a:rPr sz="1100" b="0">
                <a:solidFill>
                  <a:srgbClr val="5B6372"/>
                </a:solidFill>
                <a:latin typeface="Arial"/>
              </a:rPr>
              <a:t>Revenue, cost, cycle time, quality, experience, capacity and strategic learning.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Feasibility</a:t>
            </a:r>
          </a:p>
          <a:p>
            <a:pPr algn="l">
              <a:spcAft>
                <a:spcPts val="300"/>
              </a:spcAft>
            </a:pPr>
            <a:r>
              <a:rPr sz="1100" b="0">
                <a:solidFill>
                  <a:srgbClr val="5B6372"/>
                </a:solidFill>
                <a:latin typeface="Arial"/>
              </a:rPr>
              <a:t>Data readiness, process stability, integration effort, skills, risk and change capacity.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Process redesign</a:t>
            </a:r>
          </a:p>
          <a:p>
            <a:pPr algn="l">
              <a:spcAft>
                <a:spcPts val="300"/>
              </a:spcAft>
            </a:pPr>
            <a:r>
              <a:rPr sz="1100" b="0">
                <a:solidFill>
                  <a:srgbClr val="5B6372"/>
                </a:solidFill>
                <a:latin typeface="Arial"/>
              </a:rPr>
              <a:t>Allocate judgement, repetition, approval and accountability deliberately between people and agents.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Prototype</a:t>
            </a:r>
          </a:p>
          <a:p>
            <a:pPr algn="l">
              <a:spcAft>
                <a:spcPts val="300"/>
              </a:spcAft>
            </a:pPr>
            <a:r>
              <a:rPr sz="1100" b="0">
                <a:solidFill>
                  <a:srgbClr val="5B6372"/>
                </a:solidFill>
                <a:latin typeface="Arial"/>
              </a:rPr>
              <a:t>Test a narrow workflow with representative cases, failure modes and measurable acceptance criteria.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Governance</a:t>
            </a:r>
          </a:p>
          <a:p>
            <a:pPr algn="l">
              <a:spcAft>
                <a:spcPts val="300"/>
              </a:spcAft>
            </a:pPr>
            <a:r>
              <a:rPr sz="1100" b="0">
                <a:solidFill>
                  <a:srgbClr val="5B6372"/>
                </a:solidFill>
                <a:latin typeface="Arial"/>
              </a:rPr>
              <a:t>Ownership, access, privacy, security, auditability, incident response and vendor controls.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Roadmap</a:t>
            </a:r>
          </a:p>
          <a:p>
            <a:pPr algn="l">
              <a:spcAft>
                <a:spcPts val="300"/>
              </a:spcAft>
            </a:pPr>
            <a:r>
              <a:rPr sz="1100" b="0">
                <a:solidFill>
                  <a:srgbClr val="5B6372"/>
                </a:solidFill>
                <a:latin typeface="Arial"/>
              </a:rPr>
              <a:t>Discover → prioritise → prototype → pilot → scale → monitor and continuously improve.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5.1 Concept Lens — Value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Revenue, cost, cycle time, quality, experience, capacity and strategic learning.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value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5.2 Concept Lens — Feasibility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Data readiness, process stability, integration effort, skills, risk and change capacity.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feasibility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5.3 Concept Lens — Process redesign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Allocate judgement, repetition, approval and accountability deliberately between people and agents.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process redesign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5.4 Concept Lens — Prototype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Test a narrow workflow with representative cases, failure modes and measurable acceptance criteria.</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prototype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5.5 Concept Lens — Governance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Ownership, access, privacy, security, auditability, incident response and vendor controls.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governance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CONCEPT DEEP DIVE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5.6 Concept Lens — Roadmap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Meaning</a:t>
            </a:r>
          </a:p>
          <a:p>
            <a:pPr algn="l">
              <a:spcAft>
                <a:spcPts val="300"/>
              </a:spcAft>
            </a:pPr>
            <a:r>
              <a:rPr sz="1100" b="0">
                <a:solidFill>
                  <a:srgbClr val="5B6372"/>
                </a:solidFill>
                <a:latin typeface="Arial"/>
              </a:rPr>
              <a:t>Discover → prioritise → prototype → pilot → scale → monitor and continuously improve.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question</a:t>
            </a:r>
          </a:p>
          <a:p>
            <a:pPr algn="l">
              <a:spcAft>
                <a:spcPts val="300"/>
              </a:spcAft>
            </a:pPr>
            <a:r>
              <a:rPr sz="1100" b="0">
                <a:solidFill>
                  <a:srgbClr val="5B6372"/>
                </a:solidFill>
                <a:latin typeface="Arial"/>
              </a:rPr>
              <a:t>Where does roadmap change value, workflow, decision quality or capacity?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 to collect</a:t>
            </a:r>
          </a:p>
          <a:p>
            <a:pPr algn="l">
              <a:spcAft>
                <a:spcPts val="300"/>
              </a:spcAft>
            </a:pPr>
            <a:r>
              <a:rPr sz="1100" b="0">
                <a:solidFill>
                  <a:srgbClr val="5B6372"/>
                </a:solidFill>
                <a:latin typeface="Arial"/>
              </a:rPr>
              <a:t>Baseline, approved sources, process owner, acceptance criterion and observed result.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 to retain</a:t>
            </a:r>
          </a:p>
          <a:p>
            <a:pPr algn="l">
              <a:spcAft>
                <a:spcPts val="300"/>
              </a:spcAft>
            </a:pPr>
            <a:r>
              <a:rPr sz="1100" b="0">
                <a:solidFill>
                  <a:srgbClr val="5B6372"/>
                </a:solidFill>
                <a:latin typeface="Arial"/>
              </a:rPr>
              <a:t>Name the human owner, allowed action, exception path and review 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5.F1 Framework — Value-feasibility matrix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Score value and feasibility separately before considering urgency or sponsorship.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matrix to distinguish pilot-now opportunities from prepare-first opportunities.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high-value idea with unstable data or unacceptable risk is not ready for automation.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FRAMEWORK APPLICATION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Value-feasibility matrix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Value-feasibility matrix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Value-feasibility matrix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5.F2 Framework — Total business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Include labour, cycle time, quality, rework, revenue, integration, licences, model usage, oversight, change and risk exposure.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ranges and sensitivity analysis rather than a single confident return estimate.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 not omit human review and maintenance costs from an agentic-AI business case.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FRAMEWORK APPLICATION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Total business case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Total business case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Total business case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5.F3 Framework — Human-AI process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Assign each step as human-led, AI-assisted, agent-executed with review, or fully automated within policy.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the design to remove duplicate checks while preserving accountable decisions.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Avoid designing a shadow process in which staff repeat every agent action because trust was never engineered.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FRAMEWORK APPLICATION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Human-AI process design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Human-AI process design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Human-AI process design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BUSINESS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5.F4 Framework — Stage-gated roadmap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 it explains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discover, prioritise, prototype, pilot, scale and improve gates with evidence required at each transition.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When to use 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stage gates to stop weak initiatives early and concentrate investment on proven workflows.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Watch for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successful demo is not evidence of operational readiness, security or sustainable value.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FRAMEWORK APPLICATION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 Stage-gated roadmap to a governed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Problem</a:t>
            </a:r>
          </a:p>
          <a:p>
            <a:pPr algn="l">
              <a:spcAft>
                <a:spcPts val="300"/>
              </a:spcAft>
            </a:pPr>
            <a:r>
              <a:rPr sz="1000" b="0">
                <a:solidFill>
                  <a:srgbClr val="5B6372"/>
                </a:solidFill>
                <a:latin typeface="Arial"/>
              </a:rPr>
              <a:t>State the process problem that Stage-gated roadmap should clarify.</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Baseline</a:t>
            </a:r>
          </a:p>
          <a:p>
            <a:pPr algn="l">
              <a:spcAft>
                <a:spcPts val="300"/>
              </a:spcAft>
            </a:pPr>
            <a:r>
              <a:rPr sz="1000" b="0">
                <a:solidFill>
                  <a:srgbClr val="5B6372"/>
                </a:solidFill>
                <a:latin typeface="Arial"/>
              </a:rPr>
              <a:t>Record current time, cost, error, experience or control performance.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Decision</a:t>
            </a:r>
          </a:p>
          <a:p>
            <a:pPr algn="l">
              <a:spcAft>
                <a:spcPts val="300"/>
              </a:spcAft>
            </a:pPr>
            <a:r>
              <a:rPr sz="1000" b="0">
                <a:solidFill>
                  <a:srgbClr val="5B6372"/>
                </a:solidFill>
                <a:latin typeface="Arial"/>
              </a:rPr>
              <a:t>Use Stage-gated roadmap to choose a bounded operating design.</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Evidence</a:t>
            </a:r>
          </a:p>
          <a:p>
            <a:pPr algn="l">
              <a:spcAft>
                <a:spcPts val="300"/>
              </a:spcAft>
            </a:pPr>
            <a:r>
              <a:rPr sz="1000" b="0">
                <a:solidFill>
                  <a:srgbClr val="5B6372"/>
                </a:solidFill>
                <a:latin typeface="Arial"/>
              </a:rPr>
              <a:t>Specify the source, test result, metric and audit record required.</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Human owner</a:t>
            </a:r>
          </a:p>
          <a:p>
            <a:pPr algn="l">
              <a:spcAft>
                <a:spcPts val="300"/>
              </a:spcAft>
            </a:pPr>
            <a:r>
              <a:rPr sz="1000" b="0">
                <a:solidFill>
                  <a:srgbClr val="5B6372"/>
                </a:solidFill>
                <a:latin typeface="Arial"/>
              </a:rPr>
              <a:t>Name who approves the consequential action and exception.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215384"/>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Review</a:t>
            </a:r>
          </a:p>
          <a:p>
            <a:pPr algn="l">
              <a:spcAft>
                <a:spcPts val="300"/>
              </a:spcAft>
            </a:pPr>
            <a:r>
              <a:rPr sz="1000" b="0">
                <a:solidFill>
                  <a:srgbClr val="5B6372"/>
                </a:solidFill>
                <a:latin typeface="Arial"/>
              </a:rPr>
              <a:t>Set the gate, threshold and date for continue, change or stop.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5.1 — Pilot with impressive demos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prototype works on ten curated examples but fails on missing data and ambiguous requests.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representative testing, baseline measures and a stage-gate decision.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5.2 — ROI under uncertainty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sponsor claims a six-month payback using only labour savings and ignores integration, review and change costs.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Rebuild the business case with ranges, sensitivity and risk-adjusted benefits.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WORKED BUSINESS CASE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Case 5.3 — Scaling responsibly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Scenario</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successful internal agent is proposed for customer-facing use across several countries.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Your decision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a roadmap covering data classification, security, legal review, monitoring, localisation and rollback.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Business outcome and baseline</a:t>
            </a:r>
          </a:p>
          <a:p>
            <a:pPr>
              <a:spcAft>
                <a:spcPts val="900"/>
              </a:spcAft>
            </a:pPr>
            <a:r>
              <a:rPr sz="1400" b="0">
                <a:solidFill>
                  <a:srgbClr val="161B26"/>
                </a:solidFill>
                <a:latin typeface="Arial"/>
              </a:rPr>
              <a:t>•  Value and feasibility factors</a:t>
            </a:r>
          </a:p>
          <a:p>
            <a:pPr>
              <a:spcAft>
                <a:spcPts val="900"/>
              </a:spcAft>
            </a:pPr>
            <a:r>
              <a:rPr sz="1400" b="0">
                <a:solidFill>
                  <a:srgbClr val="161B26"/>
                </a:solidFill>
                <a:latin typeface="Arial"/>
              </a:rPr>
              <a:t>•  Risks, controls and human owner</a:t>
            </a:r>
          </a:p>
          <a:p>
            <a:pPr>
              <a:spcAft>
                <a:spcPts val="900"/>
              </a:spcAft>
            </a:pPr>
            <a:r>
              <a:rPr sz="1400" b="0">
                <a:solidFill>
                  <a:srgbClr val="161B26"/>
                </a:solidFill>
                <a:latin typeface="Arial"/>
              </a:rPr>
              <a:t>•  Next test or stage-gate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Prioritise opportunities on value and feasibility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High value / high feasibility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Pilot now</a:t>
            </a:r>
          </a:p>
          <a:p>
            <a:pPr>
              <a:spcAft>
                <a:spcPts val="900"/>
              </a:spcAft>
            </a:pPr>
            <a:r>
              <a:rPr sz="1400" b="0">
                <a:solidFill>
                  <a:srgbClr val="161B26"/>
                </a:solidFill>
                <a:latin typeface="Arial"/>
              </a:rPr>
              <a:t>•  Narrow scope with measurable outcome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High value / low feasibility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Prepare</a:t>
            </a:r>
          </a:p>
          <a:p>
            <a:pPr>
              <a:spcAft>
                <a:spcPts val="900"/>
              </a:spcAft>
            </a:pPr>
            <a:r>
              <a:rPr sz="1400" b="0">
                <a:solidFill>
                  <a:srgbClr val="161B26"/>
                </a:solidFill>
                <a:latin typeface="Arial"/>
              </a:rPr>
              <a:t>•  Fix data, process or control gaps first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Low value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Defer</a:t>
            </a:r>
          </a:p>
          <a:p>
            <a:pPr>
              <a:spcAft>
                <a:spcPts val="900"/>
              </a:spcAft>
            </a:pPr>
            <a:r>
              <a:rPr sz="1400" b="0">
                <a:solidFill>
                  <a:srgbClr val="161B26"/>
                </a:solidFill>
                <a:latin typeface="Arial"/>
              </a:rPr>
              <a:t>•  Do not automate noise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the business case beyond model cost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Labour and cycle time</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Quality and rework</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Integration and licences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Change and training</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Risk exposure</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Learning option value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Prototype the workflow, not just the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Baseline</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Prototype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Test failures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Pilot</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Measure</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Scale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Governance travels with the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Named owner</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Data classification</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Access control</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Approval thresholds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Audit trail</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Incident response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 implementation roadmap compounds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Discover</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Prioritise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Prototype</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Pilot</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Scale</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Improve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DIGITAL WORKER 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Hermes Agent: persistent skills, memory and tasks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ermes-dashboard.png"/>
          <p:cNvPicPr>
            <a:picLocks noChangeAspect="1"/>
          </p:cNvPicPr>
          <p:nvPr/>
        </p:nvPicPr>
        <p:blipFill>
          <a:blip r:embed="rId2"/>
          <a:stretch>
            <a:fillRect/>
          </a:stretch>
        </p:blipFill>
        <p:spPr>
          <a:xfrm>
            <a:off x="2825496" y="1783080"/>
            <a:ext cx="6510528" cy="4069080"/>
          </a:xfrm>
          <a:prstGeom prst="rect">
            <a:avLst/>
          </a:prstGeom>
        </p:spPr>
      </p:pic>
      <p:sp>
        <p:nvSpPr>
          <p:cNvPr id="8" name="TextBox 7"/>
          <p:cNvSpPr txBox="1"/>
          <p:nvPr/>
        </p:nvSpPr>
        <p:spPr>
          <a:xfrm>
            <a:off x="914400" y="5897880"/>
            <a:ext cx="10332720" cy="320040"/>
          </a:xfrm>
          <a:prstGeom prst="rect">
            <a:avLst/>
          </a:prstGeom>
          <a:noFill/>
        </p:spPr>
        <p:txBody>
          <a:bodyPr wrap="square" anchor="t">
            <a:spAutoFit/>
          </a:bodyPr>
          <a:lstStyle/>
          <a:p>
            <a:pPr algn="ctr">
              <a:spcAft>
                <a:spcPts val="400"/>
              </a:spcAft>
            </a:pPr>
            <a:r>
              <a:rPr sz="1000" b="0">
                <a:solidFill>
                  <a:srgbClr val="5B6372"/>
                </a:solidFill>
                <a:latin typeface="Arial"/>
              </a:rPr>
              <a:t>Use only approved sources, scoped tools and consequential-action approvals.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LO5 · Topic 5 · PRACTICE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Configure a Governed Digital Worker with Hermes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Configure a small Hermes digital worker that remembers approved operating preferences, uses one audited skill, produces a scheduled briefing and escalates consequential actions.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named digital worker with durable memory, one skill, a safe recurring task and an implementation control sheet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persistent memory, skills, scheduling, channels, human approval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AUTHENTIC VISUAL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Tool 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ermes-dashboard.png"/>
          <p:cNvPicPr>
            <a:picLocks noChangeAspect="1"/>
          </p:cNvPicPr>
          <p:nvPr/>
        </p:nvPicPr>
        <p:blipFill>
          <a:blip r:embed="rId2"/>
          <a:stretch>
            <a:fillRect/>
          </a:stretch>
        </p:blipFill>
        <p:spPr>
          <a:xfrm>
            <a:off x="2825496" y="1783080"/>
            <a:ext cx="6510528" cy="406908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LO5 · Topic 5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Configure a Governed Digital Worker with Hermes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Hermes recalls only the approved preferences, the skill uses expected tools, the scheduled task creates one local briefing, consequential actions remain blocked, and the control sheet names the owner and rollback path.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CHECK YOUR UNDERSTANDING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5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Business decision</a:t>
            </a:r>
          </a:p>
          <a:p>
            <a:pPr algn="l">
              <a:spcAft>
                <a:spcPts val="300"/>
              </a:spcAft>
            </a:pPr>
            <a:r>
              <a:rPr sz="1100" b="0">
                <a:solidFill>
                  <a:srgbClr val="5B6372"/>
                </a:solidFill>
                <a:latin typeface="Arial"/>
              </a:rPr>
              <a:t>Value and feasibility · process redesign · prototype · measurement · roadmap · governance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Capability</a:t>
            </a:r>
          </a:p>
          <a:p>
            <a:pPr algn="l">
              <a:spcAft>
                <a:spcPts val="300"/>
              </a:spcAft>
            </a:pPr>
            <a:r>
              <a:rPr sz="1100" b="0">
                <a:solidFill>
                  <a:srgbClr val="5B6372"/>
                </a:solidFill>
                <a:latin typeface="Arial"/>
              </a:rPr>
              <a:t>Develop an implementation roadmap with memory, skills, channels, controls and continuous improvement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Control</a:t>
            </a:r>
          </a:p>
          <a:p>
            <a:pPr algn="l">
              <a:spcAft>
                <a:spcPts val="300"/>
              </a:spcAft>
            </a:pPr>
            <a:r>
              <a:rPr sz="1100" b="0">
                <a:solidFill>
                  <a:srgbClr val="5B6372"/>
                </a:solidFill>
                <a:latin typeface="Arial"/>
              </a:rPr>
              <a:t>Humans retain accountability for consequential outcomes.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Evidence</a:t>
            </a:r>
          </a:p>
          <a:p>
            <a:pPr algn="l">
              <a:spcAft>
                <a:spcPts val="300"/>
              </a:spcAft>
            </a:pPr>
            <a:r>
              <a:rPr sz="1100" b="0">
                <a:solidFill>
                  <a:srgbClr val="5B6372"/>
                </a:solidFill>
                <a:latin typeface="Arial"/>
              </a:rPr>
              <a:t>Use logs, tests and measurable acceptance criteria.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From Opportunity to Governed Implementation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Can Now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LO1</a:t>
            </a:r>
          </a:p>
          <a:p>
            <a:pPr algn="l">
              <a:spcAft>
                <a:spcPts val="300"/>
              </a:spcAft>
            </a:pPr>
            <a:r>
              <a:rPr sz="1100" b="0">
                <a:solidFill>
                  <a:srgbClr val="5B6372"/>
                </a:solidFill>
                <a:latin typeface="Arial"/>
              </a:rPr>
              <a:t>Compare traditional business models with AI-enabled models and explain the 2023-2026 shift from generative AI to autonomous agents.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LO2</a:t>
            </a:r>
          </a:p>
          <a:p>
            <a:pPr algn="l">
              <a:spcAft>
                <a:spcPts val="300"/>
              </a:spcAft>
            </a:pPr>
            <a:r>
              <a:rPr sz="1100" b="0">
                <a:solidFill>
                  <a:srgbClr val="5B6372"/>
                </a:solidFill>
                <a:latin typeface="Arial"/>
              </a:rPr>
              <a:t>Identify high-value business opportunities for generative AI, agentic AI and AI agents across functions.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LO3</a:t>
            </a:r>
          </a:p>
          <a:p>
            <a:pPr algn="l">
              <a:spcAft>
                <a:spcPts val="300"/>
              </a:spcAft>
            </a:pPr>
            <a:r>
              <a:rPr sz="1100" b="0">
                <a:solidFill>
                  <a:srgbClr val="5B6372"/>
                </a:solidFill>
                <a:latin typeface="Arial"/>
              </a:rPr>
              <a:t>Select suitable LLMs and AI technologies and explain reasoning, memory, tools, skills, channels and task execution.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LO4</a:t>
            </a:r>
          </a:p>
          <a:p>
            <a:pPr algn="l">
              <a:spcAft>
                <a:spcPts val="300"/>
              </a:spcAft>
            </a:pPr>
            <a:r>
              <a:rPr sz="1100" b="0">
                <a:solidFill>
                  <a:srgbClr val="5B6372"/>
                </a:solidFill>
                <a:latin typeface="Arial"/>
              </a:rPr>
              <a:t>Evaluate AI opportunities using value, feasibility, cost, risk, operational impact and human oversight.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LO5</a:t>
            </a:r>
          </a:p>
          <a:p>
            <a:pPr algn="l">
              <a:spcAft>
                <a:spcPts val="300"/>
              </a:spcAft>
            </a:pPr>
            <a:r>
              <a:rPr sz="1100" b="0">
                <a:solidFill>
                  <a:srgbClr val="5B6372"/>
                </a:solidFill>
                <a:latin typeface="Arial"/>
              </a:rPr>
              <a:t>Design an implementation roadmap using context, harness and loop engineering with governance and continuous improvement.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Implementation Roadmap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Discover friction</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Prioritise value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Prototype workflow</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Pilot controls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Scale evidence</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Improve continuously</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GO-LIVE CHECKLIST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Before Any Agent Goes 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Named business owner</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Approved data boundary</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Least-privilege tools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Human approval thresholds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Test and rollback plan</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300" b="0">
                <a:solidFill>
                  <a:srgbClr val="161B26"/>
                </a:solidFill>
                <a:latin typeface="Arial"/>
              </a:rPr>
              <a:t>Logs, metrics and review cadence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OFFICIAL PRODUCT SOURCES · ACCESSED 3 AUGUST 2026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Sources &amp; Further Reading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OpenAI — Harness engineering: openai.com/index/harness-engineering/</a:t>
            </a:r>
          </a:p>
          <a:p>
            <a:pPr>
              <a:spcAft>
                <a:spcPts val="1000"/>
              </a:spcAft>
            </a:pPr>
            <a:r>
              <a:rPr sz="1500" b="0">
                <a:solidFill>
                  <a:srgbClr val="161B26"/>
                </a:solidFill>
                <a:latin typeface="Arial"/>
              </a:rPr>
              <a:t>•  OpenAI — Codex: openai.com/codex/</a:t>
            </a:r>
          </a:p>
          <a:p>
            <a:pPr>
              <a:spcAft>
                <a:spcPts val="1000"/>
              </a:spcAft>
            </a:pPr>
            <a:r>
              <a:rPr sz="1500" b="0">
                <a:solidFill>
                  <a:srgbClr val="161B26"/>
                </a:solidFill>
                <a:latin typeface="Arial"/>
              </a:rPr>
              <a:t>•  Anthropic — Claude Code and Claude Cowork: claude.com/product/claude-code · claude.com/product/cowork</a:t>
            </a:r>
          </a:p>
          <a:p>
            <a:pPr>
              <a:spcAft>
                <a:spcPts val="1000"/>
              </a:spcAft>
            </a:pPr>
            <a:r>
              <a:rPr sz="1500" b="0">
                <a:solidFill>
                  <a:srgbClr val="161B26"/>
                </a:solidFill>
                <a:latin typeface="Arial"/>
              </a:rPr>
              <a:t>•  n8n — AI workflows: n8n.io/ai/</a:t>
            </a:r>
          </a:p>
          <a:p>
            <a:pPr>
              <a:spcAft>
                <a:spcPts val="1000"/>
              </a:spcAft>
            </a:pPr>
            <a:r>
              <a:rPr sz="1500" b="0">
                <a:solidFill>
                  <a:srgbClr val="161B26"/>
                </a:solidFill>
                <a:latin typeface="Arial"/>
              </a:rPr>
              <a:t>•  Nous Research — Hermes Agent: hermes-agent.nousresearch.com/</a:t>
            </a:r>
          </a:p>
          <a:p>
            <a:pPr>
              <a:spcAft>
                <a:spcPts val="1000"/>
              </a:spcAft>
            </a:pPr>
            <a:r>
              <a:rPr sz="1500" b="0">
                <a:solidFill>
                  <a:srgbClr val="161B26"/>
                </a:solidFill>
                <a:latin typeface="Arial"/>
              </a:rPr>
              <a:t>•  OpenClaw: openclaw.ai/ · Paperclip: github.com/paperclipai/paperclip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FEEDBACK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Feedback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Share feedback</a:t>
            </a:r>
          </a:p>
          <a:p>
            <a:pPr algn="l">
              <a:spcAft>
                <a:spcPts val="300"/>
              </a:spcAft>
            </a:pPr>
            <a:r>
              <a:rPr sz="1200" b="0">
                <a:solidFill>
                  <a:srgbClr val="5B6372"/>
                </a:solidFill>
                <a:latin typeface="Arial"/>
              </a:rPr>
              <a:t>Complete the course feedback form provided by your trainer.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What worked</a:t>
            </a:r>
          </a:p>
          <a:p>
            <a:pPr algn="l">
              <a:spcAft>
                <a:spcPts val="300"/>
              </a:spcAft>
            </a:pPr>
            <a:r>
              <a:rPr sz="1200" b="0">
                <a:solidFill>
                  <a:srgbClr val="5B6372"/>
                </a:solidFill>
                <a:latin typeface="Arial"/>
              </a:rPr>
              <a:t>Tell us which topics and labs helped you most.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What to improve</a:t>
            </a:r>
          </a:p>
          <a:p>
            <a:pPr algn="l">
              <a:spcAft>
                <a:spcPts val="300"/>
              </a:spcAft>
            </a:pPr>
            <a:r>
              <a:rPr sz="1200" b="0">
                <a:solidFill>
                  <a:srgbClr val="5B6372"/>
                </a:solidFill>
                <a:latin typeface="Arial"/>
              </a:rPr>
              <a:t>Suggest one change that would make the course more useful.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Certificate</a:t>
            </a:r>
          </a:p>
          <a:p>
            <a:pPr algn="l">
              <a:spcAft>
                <a:spcPts val="300"/>
              </a:spcAft>
            </a:pPr>
            <a:r>
              <a:rPr sz="1200" b="0">
                <a:solidFill>
                  <a:srgbClr val="5B6372"/>
                </a:solidFill>
                <a:latin typeface="Arial"/>
              </a:rPr>
              <a:t>Your certificate of completion will be emailed to you after the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Design agents around outcomes — and controls.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Start narrow, measure real work, preserve human accountability and improve from evidence.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AI  ·  C798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